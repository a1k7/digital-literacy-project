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5" r:id="rId9"/>
    <p:sldId id="266" r:id="rId10"/>
    <p:sldId id="267" r:id="rId11"/>
  </p:sldIdLst>
  <p:sldSz cx="7556500" cy="10693400"/>
  <p:notesSz cx="6858000" cy="9144000"/>
  <p:embeddedFontLst>
    <p:embeddedFont>
      <p:font typeface="Arvo Bold" panose="02000000000000000000" pitchFamily="2" charset="0"/>
      <p:regular r:id="rId12"/>
      <p:bold r:id="rId13"/>
    </p:embeddedFont>
    <p:embeddedFont>
      <p:font typeface="Canva Sans Bold" panose="020B0803030501040103" pitchFamily="34" charset="0"/>
      <p:regular r:id="rId14"/>
      <p:bold r:id="rId15"/>
    </p:embeddedFont>
    <p:embeddedFont>
      <p:font typeface="Montserrat Bold" pitchFamily="2" charset="77"/>
      <p:regular r:id="rId16"/>
      <p:bold r:id="rId17"/>
    </p:embeddedFont>
    <p:embeddedFont>
      <p:font typeface="Montserrat Light" panose="00000400000000000000" pitchFamily="2" charset="77"/>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26" autoAdjust="0"/>
  </p:normalViewPr>
  <p:slideViewPr>
    <p:cSldViewPr>
      <p:cViewPr varScale="1">
        <p:scale>
          <a:sx n="77" d="100"/>
          <a:sy n="77" d="100"/>
        </p:scale>
        <p:origin x="3568" y="4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cybercrime.gov.in"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97B2"/>
        </a:solidFill>
        <a:effectLst/>
      </p:bgPr>
    </p:bg>
    <p:spTree>
      <p:nvGrpSpPr>
        <p:cNvPr id="1" name=""/>
        <p:cNvGrpSpPr/>
        <p:nvPr/>
      </p:nvGrpSpPr>
      <p:grpSpPr>
        <a:xfrm>
          <a:off x="0" y="0"/>
          <a:ext cx="0" cy="0"/>
          <a:chOff x="0" y="0"/>
          <a:chExt cx="0" cy="0"/>
        </a:xfrm>
      </p:grpSpPr>
      <p:sp>
        <p:nvSpPr>
          <p:cNvPr id="2" name="Freeform 2"/>
          <p:cNvSpPr/>
          <p:nvPr/>
        </p:nvSpPr>
        <p:spPr>
          <a:xfrm>
            <a:off x="-114300" y="-114300"/>
            <a:ext cx="7788600" cy="10920600"/>
          </a:xfrm>
          <a:custGeom>
            <a:avLst/>
            <a:gdLst/>
            <a:ahLst/>
            <a:cxnLst/>
            <a:rect l="l" t="t" r="r" b="b"/>
            <a:pathLst>
              <a:path w="7788600" h="10920600">
                <a:moveTo>
                  <a:pt x="0" y="0"/>
                </a:moveTo>
                <a:lnTo>
                  <a:pt x="7788600" y="0"/>
                </a:lnTo>
                <a:lnTo>
                  <a:pt x="7788600" y="10920600"/>
                </a:lnTo>
                <a:lnTo>
                  <a:pt x="0" y="10920600"/>
                </a:lnTo>
                <a:lnTo>
                  <a:pt x="0" y="0"/>
                </a:lnTo>
                <a:close/>
              </a:path>
            </a:pathLst>
          </a:custGeom>
          <a:blipFill>
            <a:blip r:embed="rId2">
              <a:alphaModFix amt="61000"/>
            </a:blip>
            <a:stretch>
              <a:fillRect l="-43475" r="-43475"/>
            </a:stretch>
          </a:blipFill>
        </p:spPr>
        <p:txBody>
          <a:bodyPr/>
          <a:lstStyle/>
          <a:p>
            <a:endParaRPr lang="en-US"/>
          </a:p>
        </p:txBody>
      </p:sp>
      <p:grpSp>
        <p:nvGrpSpPr>
          <p:cNvPr id="3" name="Group 3"/>
          <p:cNvGrpSpPr/>
          <p:nvPr/>
        </p:nvGrpSpPr>
        <p:grpSpPr>
          <a:xfrm>
            <a:off x="542925" y="945682"/>
            <a:ext cx="6648450" cy="7504682"/>
            <a:chOff x="0" y="0"/>
            <a:chExt cx="8864600" cy="10006243"/>
          </a:xfrm>
        </p:grpSpPr>
        <p:sp>
          <p:nvSpPr>
            <p:cNvPr id="4" name="TextBox 4"/>
            <p:cNvSpPr txBox="1"/>
            <p:nvPr/>
          </p:nvSpPr>
          <p:spPr>
            <a:xfrm>
              <a:off x="1701800" y="6446436"/>
              <a:ext cx="5486400" cy="2054515"/>
            </a:xfrm>
            <a:prstGeom prst="rect">
              <a:avLst/>
            </a:prstGeom>
          </p:spPr>
          <p:txBody>
            <a:bodyPr lIns="0" tIns="0" rIns="0" bIns="0" rtlCol="0" anchor="t">
              <a:spAutoFit/>
            </a:bodyPr>
            <a:lstStyle/>
            <a:p>
              <a:pPr algn="ctr">
                <a:lnSpc>
                  <a:spcPts val="3137"/>
                </a:lnSpc>
              </a:pPr>
              <a:r>
                <a:rPr lang="en-US" sz="2241" b="1">
                  <a:solidFill>
                    <a:srgbClr val="FFDE59"/>
                  </a:solidFill>
                  <a:latin typeface="Arvo Bold"/>
                  <a:ea typeface="Arvo Bold"/>
                  <a:cs typeface="Arvo Bold"/>
                  <a:sym typeface="Arvo Bold"/>
                </a:rPr>
                <a:t>VIT Bhopal University | VITyarthi E-Learning Platform</a:t>
              </a:r>
            </a:p>
            <a:p>
              <a:pPr algn="ctr">
                <a:lnSpc>
                  <a:spcPts val="3137"/>
                </a:lnSpc>
              </a:pPr>
              <a:endParaRPr lang="en-US" sz="2241" b="1">
                <a:solidFill>
                  <a:srgbClr val="FFDE59"/>
                </a:solidFill>
                <a:latin typeface="Arvo Bold"/>
                <a:ea typeface="Arvo Bold"/>
                <a:cs typeface="Arvo Bold"/>
                <a:sym typeface="Arvo Bold"/>
              </a:endParaRPr>
            </a:p>
          </p:txBody>
        </p:sp>
        <p:sp>
          <p:nvSpPr>
            <p:cNvPr id="5" name="TextBox 5"/>
            <p:cNvSpPr txBox="1"/>
            <p:nvPr/>
          </p:nvSpPr>
          <p:spPr>
            <a:xfrm>
              <a:off x="0" y="114300"/>
              <a:ext cx="8864600" cy="6269553"/>
            </a:xfrm>
            <a:prstGeom prst="rect">
              <a:avLst/>
            </a:prstGeom>
          </p:spPr>
          <p:txBody>
            <a:bodyPr lIns="0" tIns="0" rIns="0" bIns="0" rtlCol="0" anchor="t">
              <a:spAutoFit/>
            </a:bodyPr>
            <a:lstStyle/>
            <a:p>
              <a:pPr algn="ctr">
                <a:lnSpc>
                  <a:spcPts val="9099"/>
                </a:lnSpc>
              </a:pPr>
              <a:r>
                <a:rPr lang="en-US" sz="8749" b="1" dirty="0">
                  <a:solidFill>
                    <a:srgbClr val="FFDE59"/>
                  </a:solidFill>
                  <a:latin typeface="Arvo Bold"/>
                  <a:ea typeface="Arvo Bold"/>
                  <a:cs typeface="Arvo Bold"/>
                  <a:sym typeface="Arvo Bold"/>
                </a:rPr>
                <a:t>CSE0001 – DIGITAL LITERACY</a:t>
              </a:r>
            </a:p>
            <a:p>
              <a:pPr algn="ctr">
                <a:lnSpc>
                  <a:spcPts val="9099"/>
                </a:lnSpc>
              </a:pPr>
              <a:endParaRPr lang="en-US" sz="8749" b="1" dirty="0">
                <a:solidFill>
                  <a:srgbClr val="FFDE59"/>
                </a:solidFill>
                <a:latin typeface="Arvo Bold"/>
                <a:ea typeface="Arvo Bold"/>
                <a:cs typeface="Arvo Bold"/>
                <a:sym typeface="Arvo Bold"/>
              </a:endParaRPr>
            </a:p>
          </p:txBody>
        </p:sp>
        <p:sp>
          <p:nvSpPr>
            <p:cNvPr id="6" name="TextBox 6"/>
            <p:cNvSpPr txBox="1"/>
            <p:nvPr/>
          </p:nvSpPr>
          <p:spPr>
            <a:xfrm>
              <a:off x="1188551" y="9684975"/>
              <a:ext cx="6553200" cy="321268"/>
            </a:xfrm>
            <a:prstGeom prst="rect">
              <a:avLst/>
            </a:prstGeom>
          </p:spPr>
          <p:txBody>
            <a:bodyPr lIns="0" tIns="0" rIns="0" bIns="0" rtlCol="0" anchor="t">
              <a:spAutoFit/>
            </a:bodyPr>
            <a:lstStyle/>
            <a:p>
              <a:pPr algn="ctr">
                <a:lnSpc>
                  <a:spcPts val="2075"/>
                </a:lnSpc>
              </a:pPr>
              <a:r>
                <a:rPr lang="en-US" sz="1482" b="1">
                  <a:solidFill>
                    <a:srgbClr val="FFFFFF"/>
                  </a:solidFill>
                  <a:latin typeface="Montserrat Bold"/>
                  <a:ea typeface="Montserrat Bold"/>
                  <a:cs typeface="Montserrat Bold"/>
                  <a:sym typeface="Montserrat Bold"/>
                </a:rPr>
                <a:t>PREPARED BY: AKHILESH WARIK</a:t>
              </a:r>
            </a:p>
          </p:txBody>
        </p:sp>
      </p:grpSp>
      <p:sp>
        <p:nvSpPr>
          <p:cNvPr id="7" name="TextBox 7"/>
          <p:cNvSpPr txBox="1"/>
          <p:nvPr/>
        </p:nvSpPr>
        <p:spPr>
          <a:xfrm>
            <a:off x="1809750" y="7006168"/>
            <a:ext cx="4114800" cy="771743"/>
          </a:xfrm>
          <a:prstGeom prst="rect">
            <a:avLst/>
          </a:prstGeom>
        </p:spPr>
        <p:txBody>
          <a:bodyPr lIns="0" tIns="0" rIns="0" bIns="0" rtlCol="0" anchor="t">
            <a:spAutoFit/>
          </a:bodyPr>
          <a:lstStyle/>
          <a:p>
            <a:pPr algn="ctr">
              <a:lnSpc>
                <a:spcPts val="3137"/>
              </a:lnSpc>
            </a:pPr>
            <a:r>
              <a:rPr lang="en-US" sz="2241" b="1" dirty="0">
                <a:solidFill>
                  <a:srgbClr val="FFDE59"/>
                </a:solidFill>
                <a:latin typeface="Arvo Bold"/>
                <a:ea typeface="Arvo Bold"/>
                <a:cs typeface="Arvo Bold"/>
                <a:sym typeface="Arvo Bold"/>
              </a:rPr>
              <a:t>Project Assignment Brief</a:t>
            </a:r>
          </a:p>
          <a:p>
            <a:pPr algn="ctr">
              <a:lnSpc>
                <a:spcPts val="3137"/>
              </a:lnSpc>
            </a:pPr>
            <a:endParaRPr lang="en-US" sz="2241" b="1" dirty="0">
              <a:solidFill>
                <a:srgbClr val="FFDE59"/>
              </a:solidFill>
              <a:latin typeface="Arvo Bold"/>
              <a:ea typeface="Arvo Bold"/>
              <a:cs typeface="Arvo Bold"/>
              <a:sym typeface="Arvo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97B2"/>
        </a:solidFill>
        <a:effectLst/>
      </p:bgPr>
    </p:bg>
    <p:spTree>
      <p:nvGrpSpPr>
        <p:cNvPr id="1" name=""/>
        <p:cNvGrpSpPr/>
        <p:nvPr/>
      </p:nvGrpSpPr>
      <p:grpSpPr>
        <a:xfrm>
          <a:off x="0" y="0"/>
          <a:ext cx="0" cy="0"/>
          <a:chOff x="0" y="0"/>
          <a:chExt cx="0" cy="0"/>
        </a:xfrm>
      </p:grpSpPr>
      <p:sp>
        <p:nvSpPr>
          <p:cNvPr id="2" name="TextBox 2"/>
          <p:cNvSpPr txBox="1"/>
          <p:nvPr/>
        </p:nvSpPr>
        <p:spPr>
          <a:xfrm>
            <a:off x="582036" y="2281373"/>
            <a:ext cx="6395929" cy="6502293"/>
          </a:xfrm>
          <a:prstGeom prst="rect">
            <a:avLst/>
          </a:prstGeom>
        </p:spPr>
        <p:txBody>
          <a:bodyPr lIns="0" tIns="0" rIns="0" bIns="0" rtlCol="0" anchor="t">
            <a:spAutoFit/>
          </a:bodyPr>
          <a:lstStyle/>
          <a:p>
            <a:pPr algn="just">
              <a:lnSpc>
                <a:spcPct val="150000"/>
              </a:lnSpc>
            </a:pPr>
            <a:r>
              <a:rPr lang="en-US" sz="1600" b="1" dirty="0">
                <a:solidFill>
                  <a:srgbClr val="FFFFFF"/>
                </a:solidFill>
                <a:latin typeface="Arial" panose="020B0604020202020204" pitchFamily="34" charset="0"/>
                <a:ea typeface="Montserrat Bold"/>
                <a:cs typeface="Arial" panose="020B0604020202020204" pitchFamily="34" charset="0"/>
                <a:sym typeface="Montserrat Bold"/>
              </a:rPr>
              <a:t>This project focuses on understanding digital literacy and how it applies in everyday student life. Today, we rely on digital tools for learning, communication, and managing our work, so knowing how to use them properly is very important.</a:t>
            </a:r>
          </a:p>
          <a:p>
            <a:pPr algn="just">
              <a:lnSpc>
                <a:spcPct val="150000"/>
              </a:lnSpc>
            </a:pPr>
            <a:endParaRPr lang="en-US" sz="1600" b="1" dirty="0">
              <a:solidFill>
                <a:srgbClr val="FFFFFF"/>
              </a:solidFill>
              <a:latin typeface="Arial" panose="020B0604020202020204" pitchFamily="34" charset="0"/>
              <a:ea typeface="Montserrat Bold"/>
              <a:cs typeface="Arial" panose="020B0604020202020204" pitchFamily="34" charset="0"/>
              <a:sym typeface="Montserrat Bold"/>
            </a:endParaRPr>
          </a:p>
          <a:p>
            <a:pPr algn="just">
              <a:lnSpc>
                <a:spcPct val="150000"/>
              </a:lnSpc>
            </a:pPr>
            <a:r>
              <a:rPr lang="en-US" sz="1600" b="1" dirty="0">
                <a:solidFill>
                  <a:srgbClr val="FFFFFF"/>
                </a:solidFill>
                <a:latin typeface="Arial" panose="020B0604020202020204" pitchFamily="34" charset="0"/>
                <a:ea typeface="Montserrat Bold"/>
                <a:cs typeface="Arial" panose="020B0604020202020204" pitchFamily="34" charset="0"/>
                <a:sym typeface="Montserrat Bold"/>
              </a:rPr>
              <a:t>Through this project, I worked on different tasks like creating a digital infographic, building a student portfolio, practicing coding on online platforms, improving professional communication, and learning about cyber safety. Each task helped me explore a different side of digital skills, from creativity and technical knowledge to awareness and responsibility.</a:t>
            </a:r>
          </a:p>
          <a:p>
            <a:pPr algn="just">
              <a:lnSpc>
                <a:spcPct val="150000"/>
              </a:lnSpc>
            </a:pPr>
            <a:endParaRPr lang="en-US" sz="1600" b="1" dirty="0">
              <a:solidFill>
                <a:srgbClr val="FFFFFF"/>
              </a:solidFill>
              <a:latin typeface="Arial" panose="020B0604020202020204" pitchFamily="34" charset="0"/>
              <a:ea typeface="Montserrat Bold"/>
              <a:cs typeface="Arial" panose="020B0604020202020204" pitchFamily="34" charset="0"/>
              <a:sym typeface="Montserrat Bold"/>
            </a:endParaRPr>
          </a:p>
          <a:p>
            <a:pPr algn="just">
              <a:lnSpc>
                <a:spcPct val="150000"/>
              </a:lnSpc>
            </a:pPr>
            <a:r>
              <a:rPr lang="en-US" sz="1600" b="1" dirty="0">
                <a:solidFill>
                  <a:srgbClr val="FFFFFF"/>
                </a:solidFill>
                <a:latin typeface="Arial" panose="020B0604020202020204" pitchFamily="34" charset="0"/>
                <a:ea typeface="Montserrat Bold"/>
                <a:cs typeface="Arial" panose="020B0604020202020204" pitchFamily="34" charset="0"/>
                <a:sym typeface="Montserrat Bold"/>
              </a:rPr>
              <a:t>The main aim of this project was not just to complete tasks, but to understand how these skills can actually be useful in real situations. Overall, it gave me a better idea of how to use digital tools more effectively and responsibly in my academic and personal life.</a:t>
            </a:r>
          </a:p>
          <a:p>
            <a:pPr algn="ctr">
              <a:lnSpc>
                <a:spcPts val="1679"/>
              </a:lnSpc>
            </a:pPr>
            <a:endParaRPr lang="en-US" sz="1899" b="1" dirty="0">
              <a:solidFill>
                <a:srgbClr val="FFFFFF"/>
              </a:solidFill>
              <a:latin typeface="Montserrat Bold"/>
              <a:ea typeface="Montserrat Bold"/>
              <a:cs typeface="Montserrat Bold"/>
              <a:sym typeface="Montserrat Bold"/>
            </a:endParaRPr>
          </a:p>
        </p:txBody>
      </p:sp>
      <p:sp>
        <p:nvSpPr>
          <p:cNvPr id="3" name="TextBox 3"/>
          <p:cNvSpPr txBox="1"/>
          <p:nvPr/>
        </p:nvSpPr>
        <p:spPr>
          <a:xfrm>
            <a:off x="699280" y="756000"/>
            <a:ext cx="6104720" cy="788396"/>
          </a:xfrm>
          <a:prstGeom prst="rect">
            <a:avLst/>
          </a:prstGeom>
        </p:spPr>
        <p:txBody>
          <a:bodyPr lIns="0" tIns="0" rIns="0" bIns="0" rtlCol="0" anchor="t">
            <a:spAutoFit/>
          </a:bodyPr>
          <a:lstStyle/>
          <a:p>
            <a:pPr algn="ctr">
              <a:lnSpc>
                <a:spcPts val="6027"/>
              </a:lnSpc>
            </a:pPr>
            <a:r>
              <a:rPr lang="en-US" sz="5195" b="1">
                <a:solidFill>
                  <a:srgbClr val="FFDE59"/>
                </a:solidFill>
                <a:latin typeface="Arvo Bold"/>
                <a:ea typeface="Arvo Bold"/>
                <a:cs typeface="Arvo Bold"/>
                <a:sym typeface="Arvo Bold"/>
              </a:rPr>
              <a:t>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EFBF"/>
        </a:solidFill>
        <a:effectLst/>
      </p:bgPr>
    </p:bg>
    <p:spTree>
      <p:nvGrpSpPr>
        <p:cNvPr id="1" name=""/>
        <p:cNvGrpSpPr/>
        <p:nvPr/>
      </p:nvGrpSpPr>
      <p:grpSpPr>
        <a:xfrm>
          <a:off x="0" y="0"/>
          <a:ext cx="0" cy="0"/>
          <a:chOff x="0" y="0"/>
          <a:chExt cx="0" cy="0"/>
        </a:xfrm>
      </p:grpSpPr>
      <p:grpSp>
        <p:nvGrpSpPr>
          <p:cNvPr id="2" name="Group 2"/>
          <p:cNvGrpSpPr/>
          <p:nvPr/>
        </p:nvGrpSpPr>
        <p:grpSpPr>
          <a:xfrm rot="16200000">
            <a:off x="939244" y="-164544"/>
            <a:ext cx="1466042" cy="3344529"/>
            <a:chOff x="0" y="0"/>
            <a:chExt cx="525396" cy="1334070"/>
          </a:xfrm>
        </p:grpSpPr>
        <p:sp>
          <p:nvSpPr>
            <p:cNvPr id="3" name="Freeform 3"/>
            <p:cNvSpPr/>
            <p:nvPr/>
          </p:nvSpPr>
          <p:spPr>
            <a:xfrm>
              <a:off x="0" y="0"/>
              <a:ext cx="525396" cy="1334070"/>
            </a:xfrm>
            <a:custGeom>
              <a:avLst/>
              <a:gdLst/>
              <a:ahLst/>
              <a:cxnLst/>
              <a:rect l="l" t="t" r="r" b="b"/>
              <a:pathLst>
                <a:path w="525396" h="1334070">
                  <a:moveTo>
                    <a:pt x="0" y="0"/>
                  </a:moveTo>
                  <a:lnTo>
                    <a:pt x="525396" y="0"/>
                  </a:lnTo>
                  <a:lnTo>
                    <a:pt x="525396" y="1334070"/>
                  </a:lnTo>
                  <a:lnTo>
                    <a:pt x="0" y="1334070"/>
                  </a:lnTo>
                  <a:close/>
                </a:path>
              </a:pathLst>
            </a:custGeom>
            <a:solidFill>
              <a:srgbClr val="0097B2"/>
            </a:solidFill>
          </p:spPr>
          <p:txBody>
            <a:bodyPr/>
            <a:lstStyle/>
            <a:p>
              <a:endParaRPr lang="en-US"/>
            </a:p>
          </p:txBody>
        </p:sp>
        <p:sp>
          <p:nvSpPr>
            <p:cNvPr id="4" name="TextBox 4"/>
            <p:cNvSpPr txBox="1"/>
            <p:nvPr/>
          </p:nvSpPr>
          <p:spPr>
            <a:xfrm>
              <a:off x="0" y="-19050"/>
              <a:ext cx="525396" cy="1353120"/>
            </a:xfrm>
            <a:prstGeom prst="rect">
              <a:avLst/>
            </a:prstGeom>
          </p:spPr>
          <p:txBody>
            <a:bodyPr lIns="50800" tIns="50800" rIns="50800" bIns="50800" rtlCol="0" anchor="ctr"/>
            <a:lstStyle/>
            <a:p>
              <a:pPr algn="ctr">
                <a:lnSpc>
                  <a:spcPts val="1795"/>
                </a:lnSpc>
              </a:pPr>
              <a:endParaRPr/>
            </a:p>
          </p:txBody>
        </p:sp>
      </p:grpSp>
      <p:grpSp>
        <p:nvGrpSpPr>
          <p:cNvPr id="5" name="Group 5"/>
          <p:cNvGrpSpPr/>
          <p:nvPr/>
        </p:nvGrpSpPr>
        <p:grpSpPr>
          <a:xfrm rot="16200000">
            <a:off x="6395278" y="1053275"/>
            <a:ext cx="1466042" cy="908892"/>
            <a:chOff x="0" y="0"/>
            <a:chExt cx="525396" cy="1242227"/>
          </a:xfrm>
        </p:grpSpPr>
        <p:sp>
          <p:nvSpPr>
            <p:cNvPr id="6" name="Freeform 6"/>
            <p:cNvSpPr/>
            <p:nvPr/>
          </p:nvSpPr>
          <p:spPr>
            <a:xfrm>
              <a:off x="0" y="0"/>
              <a:ext cx="525396" cy="1242227"/>
            </a:xfrm>
            <a:custGeom>
              <a:avLst/>
              <a:gdLst/>
              <a:ahLst/>
              <a:cxnLst/>
              <a:rect l="l" t="t" r="r" b="b"/>
              <a:pathLst>
                <a:path w="525396" h="1242227">
                  <a:moveTo>
                    <a:pt x="0" y="0"/>
                  </a:moveTo>
                  <a:lnTo>
                    <a:pt x="525396" y="0"/>
                  </a:lnTo>
                  <a:lnTo>
                    <a:pt x="525396" y="1242227"/>
                  </a:lnTo>
                  <a:lnTo>
                    <a:pt x="0" y="1242227"/>
                  </a:lnTo>
                  <a:close/>
                </a:path>
              </a:pathLst>
            </a:custGeom>
            <a:solidFill>
              <a:srgbClr val="0097B2"/>
            </a:solidFill>
          </p:spPr>
          <p:txBody>
            <a:bodyPr/>
            <a:lstStyle/>
            <a:p>
              <a:endParaRPr lang="en-US"/>
            </a:p>
          </p:txBody>
        </p:sp>
        <p:sp>
          <p:nvSpPr>
            <p:cNvPr id="7" name="TextBox 7"/>
            <p:cNvSpPr txBox="1"/>
            <p:nvPr/>
          </p:nvSpPr>
          <p:spPr>
            <a:xfrm>
              <a:off x="0" y="-19050"/>
              <a:ext cx="525396" cy="1261277"/>
            </a:xfrm>
            <a:prstGeom prst="rect">
              <a:avLst/>
            </a:prstGeom>
          </p:spPr>
          <p:txBody>
            <a:bodyPr lIns="50800" tIns="50800" rIns="50800" bIns="50800" rtlCol="0" anchor="ctr"/>
            <a:lstStyle/>
            <a:p>
              <a:pPr algn="ctr">
                <a:lnSpc>
                  <a:spcPts val="1795"/>
                </a:lnSpc>
              </a:pPr>
              <a:endParaRPr/>
            </a:p>
          </p:txBody>
        </p:sp>
      </p:grpSp>
      <p:sp>
        <p:nvSpPr>
          <p:cNvPr id="8" name="TextBox 8"/>
          <p:cNvSpPr txBox="1"/>
          <p:nvPr/>
        </p:nvSpPr>
        <p:spPr>
          <a:xfrm>
            <a:off x="3588038" y="622300"/>
            <a:ext cx="3071877" cy="2245808"/>
          </a:xfrm>
          <a:prstGeom prst="rect">
            <a:avLst/>
          </a:prstGeom>
        </p:spPr>
        <p:txBody>
          <a:bodyPr wrap="square" lIns="0" tIns="0" rIns="0" bIns="0" rtlCol="0" anchor="t">
            <a:spAutoFit/>
          </a:bodyPr>
          <a:lstStyle/>
          <a:p>
            <a:pPr algn="l">
              <a:lnSpc>
                <a:spcPts val="4519"/>
              </a:lnSpc>
            </a:pPr>
            <a:r>
              <a:rPr lang="en-US" sz="2800" b="1" dirty="0">
                <a:solidFill>
                  <a:srgbClr val="0097B2"/>
                </a:solidFill>
                <a:latin typeface="Arial" panose="020B0604020202020204" pitchFamily="34" charset="0"/>
                <a:ea typeface="Arvo Bold"/>
                <a:cs typeface="Arial" panose="020B0604020202020204" pitchFamily="34" charset="0"/>
                <a:sym typeface="Arvo Bold"/>
              </a:rPr>
              <a:t>Digital Literacy Awareness Infographic – Report</a:t>
            </a:r>
          </a:p>
        </p:txBody>
      </p:sp>
      <p:sp>
        <p:nvSpPr>
          <p:cNvPr id="9" name="TextBox 9"/>
          <p:cNvSpPr txBox="1"/>
          <p:nvPr/>
        </p:nvSpPr>
        <p:spPr>
          <a:xfrm>
            <a:off x="577850" y="4164722"/>
            <a:ext cx="6400800" cy="5019323"/>
          </a:xfrm>
          <a:prstGeom prst="rect">
            <a:avLst/>
          </a:prstGeom>
        </p:spPr>
        <p:txBody>
          <a:bodyPr wrap="square" lIns="0" tIns="0" rIns="0" bIns="0" rtlCol="0" anchor="t">
            <a:spAutoFit/>
          </a:bodyPr>
          <a:lstStyle/>
          <a:p>
            <a:pPr algn="just">
              <a:lnSpc>
                <a:spcPct val="150000"/>
              </a:lnSpc>
            </a:pPr>
            <a:r>
              <a:rPr lang="en-US" sz="1300" b="1" dirty="0">
                <a:solidFill>
                  <a:srgbClr val="000001"/>
                </a:solidFill>
                <a:latin typeface="Arial" panose="020B0604020202020204" pitchFamily="34" charset="0"/>
                <a:ea typeface="Montserrat Bold"/>
                <a:cs typeface="Arial" panose="020B0604020202020204" pitchFamily="34" charset="0"/>
                <a:sym typeface="Montserrat Bold"/>
              </a:rPr>
              <a:t>For this task, I created a digital knowledge mindfulness infographic using Canva. I decided to use Canva because it's relatively easy to work with and has a lot of ready- made templates and icons, which made designing important simpler for me. It also helped me arrange the content in a neat and visually charming way.</a:t>
            </a:r>
          </a:p>
          <a:p>
            <a:pPr algn="just">
              <a:lnSpc>
                <a:spcPct val="150000"/>
              </a:lnSpc>
            </a:pPr>
            <a:endParaRPr lang="en-US" sz="1300" b="1" dirty="0">
              <a:solidFill>
                <a:srgbClr val="000001"/>
              </a:solidFill>
              <a:latin typeface="Arial" panose="020B0604020202020204" pitchFamily="34" charset="0"/>
              <a:ea typeface="Montserrat Bold"/>
              <a:cs typeface="Arial" panose="020B0604020202020204" pitchFamily="34" charset="0"/>
              <a:sym typeface="Montserrat Bold"/>
            </a:endParaRPr>
          </a:p>
          <a:p>
            <a:pPr algn="just">
              <a:lnSpc>
                <a:spcPct val="150000"/>
              </a:lnSpc>
            </a:pPr>
            <a:r>
              <a:rPr lang="en-US" sz="1300" b="1" dirty="0">
                <a:solidFill>
                  <a:srgbClr val="000001"/>
                </a:solidFill>
                <a:latin typeface="Arial" panose="020B0604020202020204" pitchFamily="34" charset="0"/>
                <a:ea typeface="Montserrat Bold"/>
                <a:cs typeface="Arial" panose="020B0604020202020204" pitchFamily="34" charset="0"/>
                <a:sym typeface="Montserrat Bold"/>
              </a:rPr>
              <a:t>In the infographic, I explained what digital knowledge actually means and why it's important for scholars in moment’s world. I included some generally used tools like Google Docs, Canva, and YouTube that we use in our diurnal studies. I also added a section about safe internet practices, like avoiding unknown links and keeping watchwords secure. Another part focuses on online presence and how the effects we post online can affect our future.</a:t>
            </a:r>
          </a:p>
          <a:p>
            <a:pPr algn="just">
              <a:lnSpc>
                <a:spcPct val="150000"/>
              </a:lnSpc>
            </a:pPr>
            <a:endParaRPr lang="en-US" sz="1300" b="1" dirty="0">
              <a:solidFill>
                <a:srgbClr val="000001"/>
              </a:solidFill>
              <a:latin typeface="Arial" panose="020B0604020202020204" pitchFamily="34" charset="0"/>
              <a:ea typeface="Montserrat Bold"/>
              <a:cs typeface="Arial" panose="020B0604020202020204" pitchFamily="34" charset="0"/>
              <a:sym typeface="Montserrat Bold"/>
            </a:endParaRPr>
          </a:p>
          <a:p>
            <a:pPr algn="just">
              <a:lnSpc>
                <a:spcPct val="150000"/>
              </a:lnSpc>
            </a:pPr>
            <a:r>
              <a:rPr lang="en-US" sz="1300" b="1" dirty="0">
                <a:solidFill>
                  <a:srgbClr val="000001"/>
                </a:solidFill>
                <a:latin typeface="Arial" panose="020B0604020202020204" pitchFamily="34" charset="0"/>
                <a:ea typeface="Montserrat Bold"/>
                <a:cs typeface="Arial" panose="020B0604020202020204" pitchFamily="34" charset="0"/>
                <a:sym typeface="Montserrat Bold"/>
              </a:rPr>
              <a:t>While making this infographic, I set up it intriguing to combine design with information. still, it wasn't always easy to keep everything short and simple while still including all the important points. Overall, this task helped me ameliorate my design chops and also gave me a better understanding of digital knowledge.</a:t>
            </a:r>
          </a:p>
          <a:p>
            <a:pPr algn="just">
              <a:lnSpc>
                <a:spcPts val="1679"/>
              </a:lnSpc>
            </a:pPr>
            <a:endParaRPr lang="en-US" sz="1499" b="1" dirty="0">
              <a:solidFill>
                <a:srgbClr val="000001"/>
              </a:solidFill>
              <a:latin typeface="Montserrat Bold"/>
              <a:ea typeface="Montserrat Bold"/>
              <a:cs typeface="Montserrat Bold"/>
              <a:sym typeface="Montserrat Bold"/>
            </a:endParaRPr>
          </a:p>
        </p:txBody>
      </p:sp>
      <p:sp>
        <p:nvSpPr>
          <p:cNvPr id="10" name="TextBox 10"/>
          <p:cNvSpPr txBox="1"/>
          <p:nvPr/>
        </p:nvSpPr>
        <p:spPr>
          <a:xfrm>
            <a:off x="2559050" y="3060700"/>
            <a:ext cx="3142927" cy="279677"/>
          </a:xfrm>
          <a:prstGeom prst="rect">
            <a:avLst/>
          </a:prstGeom>
        </p:spPr>
        <p:txBody>
          <a:bodyPr lIns="0" tIns="0" rIns="0" bIns="0" rtlCol="0" anchor="t">
            <a:spAutoFit/>
          </a:bodyPr>
          <a:lstStyle/>
          <a:p>
            <a:pPr algn="r">
              <a:lnSpc>
                <a:spcPts val="2356"/>
              </a:lnSpc>
            </a:pPr>
            <a:r>
              <a:rPr lang="en-US" sz="1683" b="1" dirty="0">
                <a:solidFill>
                  <a:srgbClr val="000001"/>
                </a:solidFill>
                <a:latin typeface="Montserrat Bold"/>
                <a:ea typeface="Montserrat Bold"/>
                <a:cs typeface="Montserrat Bold"/>
                <a:sym typeface="Montserrat Bold"/>
              </a:rPr>
              <a:t>MODULE 1 – TASK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EFBF"/>
        </a:solidFill>
        <a:effectLst/>
      </p:bgPr>
    </p:bg>
    <p:spTree>
      <p:nvGrpSpPr>
        <p:cNvPr id="1" name=""/>
        <p:cNvGrpSpPr/>
        <p:nvPr/>
      </p:nvGrpSpPr>
      <p:grpSpPr>
        <a:xfrm>
          <a:off x="0" y="0"/>
          <a:ext cx="0" cy="0"/>
          <a:chOff x="0" y="0"/>
          <a:chExt cx="0" cy="0"/>
        </a:xfrm>
      </p:grpSpPr>
      <p:grpSp>
        <p:nvGrpSpPr>
          <p:cNvPr id="2" name="Group 2"/>
          <p:cNvGrpSpPr/>
          <p:nvPr/>
        </p:nvGrpSpPr>
        <p:grpSpPr>
          <a:xfrm>
            <a:off x="3013952" y="1451011"/>
            <a:ext cx="4987720" cy="2903290"/>
            <a:chOff x="-36792" y="-393161"/>
            <a:chExt cx="6650294" cy="3871053"/>
          </a:xfrm>
        </p:grpSpPr>
        <p:sp>
          <p:nvSpPr>
            <p:cNvPr id="3" name="TextBox 3"/>
            <p:cNvSpPr txBox="1"/>
            <p:nvPr/>
          </p:nvSpPr>
          <p:spPr>
            <a:xfrm>
              <a:off x="2674472" y="3178637"/>
              <a:ext cx="3939030" cy="299255"/>
            </a:xfrm>
            <a:prstGeom prst="rect">
              <a:avLst/>
            </a:prstGeom>
          </p:spPr>
          <p:txBody>
            <a:bodyPr lIns="0" tIns="0" rIns="0" bIns="0" rtlCol="0" anchor="t">
              <a:spAutoFit/>
            </a:bodyPr>
            <a:lstStyle/>
            <a:p>
              <a:pPr algn="l">
                <a:lnSpc>
                  <a:spcPts val="1935"/>
                </a:lnSpc>
              </a:pPr>
              <a:r>
                <a:rPr lang="en-US" sz="1382" b="1" dirty="0">
                  <a:solidFill>
                    <a:srgbClr val="0D0D0D"/>
                  </a:solidFill>
                  <a:latin typeface="Montserrat Bold"/>
                  <a:ea typeface="Montserrat Bold"/>
                  <a:cs typeface="Montserrat Bold"/>
                  <a:sym typeface="Montserrat Bold"/>
                </a:rPr>
                <a:t>MODULE 2 - TASK 2</a:t>
              </a:r>
            </a:p>
          </p:txBody>
        </p:sp>
        <p:sp>
          <p:nvSpPr>
            <p:cNvPr id="4" name="TextBox 4"/>
            <p:cNvSpPr txBox="1"/>
            <p:nvPr/>
          </p:nvSpPr>
          <p:spPr>
            <a:xfrm>
              <a:off x="-36792" y="-393161"/>
              <a:ext cx="5422529" cy="3074719"/>
            </a:xfrm>
            <a:prstGeom prst="rect">
              <a:avLst/>
            </a:prstGeom>
          </p:spPr>
          <p:txBody>
            <a:bodyPr lIns="0" tIns="0" rIns="0" bIns="0" rtlCol="0" anchor="t">
              <a:spAutoFit/>
            </a:bodyPr>
            <a:lstStyle/>
            <a:p>
              <a:pPr algn="l">
                <a:lnSpc>
                  <a:spcPts val="4515"/>
                </a:lnSpc>
              </a:pPr>
              <a:r>
                <a:rPr lang="en-US" sz="3896" b="1" dirty="0">
                  <a:solidFill>
                    <a:srgbClr val="0097B2"/>
                  </a:solidFill>
                  <a:latin typeface="Arial" panose="020B0604020202020204" pitchFamily="34" charset="0"/>
                  <a:ea typeface="Arvo Bold"/>
                  <a:cs typeface="Arial" panose="020B0604020202020204" pitchFamily="34" charset="0"/>
                  <a:sym typeface="Arvo Bold"/>
                </a:rPr>
                <a:t>Student Digital Portfolio - Report</a:t>
              </a:r>
            </a:p>
            <a:p>
              <a:pPr algn="l">
                <a:lnSpc>
                  <a:spcPts val="4519"/>
                </a:lnSpc>
              </a:pPr>
              <a:endParaRPr lang="en-US" sz="3896" b="1" dirty="0">
                <a:solidFill>
                  <a:srgbClr val="0097B2"/>
                </a:solidFill>
                <a:latin typeface="Arvo Bold"/>
                <a:ea typeface="Arvo Bold"/>
                <a:cs typeface="Arvo Bold"/>
                <a:sym typeface="Arvo Bold"/>
              </a:endParaRPr>
            </a:p>
          </p:txBody>
        </p:sp>
      </p:grpSp>
      <p:sp>
        <p:nvSpPr>
          <p:cNvPr id="5" name="TextBox 5"/>
          <p:cNvSpPr txBox="1"/>
          <p:nvPr/>
        </p:nvSpPr>
        <p:spPr>
          <a:xfrm>
            <a:off x="577850" y="4743281"/>
            <a:ext cx="6672824" cy="6200352"/>
          </a:xfrm>
          <a:prstGeom prst="rect">
            <a:avLst/>
          </a:prstGeom>
        </p:spPr>
        <p:txBody>
          <a:bodyPr wrap="square" lIns="0" tIns="0" rIns="0" bIns="0" rtlCol="0" anchor="t">
            <a:spAutoFit/>
          </a:bodyPr>
          <a:lstStyle/>
          <a:p>
            <a:pPr algn="l">
              <a:lnSpc>
                <a:spcPct val="150000"/>
              </a:lnSpc>
            </a:pPr>
            <a:r>
              <a:rPr lang="en-US" sz="1362" b="1" dirty="0">
                <a:solidFill>
                  <a:srgbClr val="0D0D0D"/>
                </a:solidFill>
                <a:latin typeface="Arial" panose="020B0604020202020204" pitchFamily="34" charset="0"/>
                <a:ea typeface="Montserrat Bold"/>
                <a:cs typeface="Arial" panose="020B0604020202020204" pitchFamily="34" charset="0"/>
                <a:sym typeface="Montserrat Bold"/>
              </a:rPr>
              <a:t>For this task, I used three platforms: GitHub, Kaggle, and LinkedIn. I mostly used GitHub to upload my projects and keep my work organized. So far, I’ve added a few basic projects like a calculator and a password generator. Working on these actually made it easier for me to understand how coding works in real situations, not just theory. I can also look back at my work and see my progress, which feels motivating.</a:t>
            </a:r>
          </a:p>
          <a:p>
            <a:pPr algn="l">
              <a:lnSpc>
                <a:spcPct val="150000"/>
              </a:lnSpc>
            </a:pPr>
            <a:endParaRPr lang="en-US" sz="1362" b="1" dirty="0">
              <a:solidFill>
                <a:srgbClr val="0D0D0D"/>
              </a:solidFill>
              <a:latin typeface="Arial" panose="020B0604020202020204" pitchFamily="34" charset="0"/>
              <a:ea typeface="Montserrat Bold"/>
              <a:cs typeface="Arial" panose="020B0604020202020204" pitchFamily="34" charset="0"/>
              <a:sym typeface="Montserrat Bold"/>
            </a:endParaRPr>
          </a:p>
          <a:p>
            <a:pPr algn="l">
              <a:lnSpc>
                <a:spcPct val="150000"/>
              </a:lnSpc>
            </a:pPr>
            <a:r>
              <a:rPr lang="en-US" sz="1362" b="1" dirty="0">
                <a:solidFill>
                  <a:srgbClr val="0D0D0D"/>
                </a:solidFill>
                <a:latin typeface="Arial" panose="020B0604020202020204" pitchFamily="34" charset="0"/>
                <a:ea typeface="Montserrat Bold"/>
                <a:cs typeface="Arial" panose="020B0604020202020204" pitchFamily="34" charset="0"/>
                <a:sym typeface="Montserrat Bold"/>
              </a:rPr>
              <a:t>On Kaggle, I’ve been practicing Python through small exercises. It’s helpful because I can try things on my own and learn from mistakes. Sometimes it takes a few tries, but that’s how I’m improving my problem-solving. LinkedIn is different—it’s more about building a professional presence. I’ve added my education details there and started connecting with people, which I think will be useful later.</a:t>
            </a:r>
          </a:p>
          <a:p>
            <a:pPr algn="l">
              <a:lnSpc>
                <a:spcPct val="150000"/>
              </a:lnSpc>
            </a:pPr>
            <a:endParaRPr lang="en-US" sz="1362" b="1" dirty="0">
              <a:solidFill>
                <a:srgbClr val="0D0D0D"/>
              </a:solidFill>
              <a:latin typeface="Arial" panose="020B0604020202020204" pitchFamily="34" charset="0"/>
              <a:ea typeface="Montserrat Bold"/>
              <a:cs typeface="Arial" panose="020B0604020202020204" pitchFamily="34" charset="0"/>
              <a:sym typeface="Montserrat Bold"/>
            </a:endParaRPr>
          </a:p>
          <a:p>
            <a:pPr algn="l">
              <a:lnSpc>
                <a:spcPct val="150000"/>
              </a:lnSpc>
            </a:pPr>
            <a:r>
              <a:rPr lang="en-US" sz="1362" b="1" dirty="0">
                <a:solidFill>
                  <a:srgbClr val="0D0D0D"/>
                </a:solidFill>
                <a:latin typeface="Arial" panose="020B0604020202020204" pitchFamily="34" charset="0"/>
                <a:ea typeface="Montserrat Bold"/>
                <a:cs typeface="Arial" panose="020B0604020202020204" pitchFamily="34" charset="0"/>
                <a:sym typeface="Montserrat Bold"/>
              </a:rPr>
              <a:t>Over the next few years, I plan to keep using GitHub regularly and upload better projects as I learn more. I’ll continue practicing on Kaggle to improve my skills, especially in data-related areas. On LinkedIn, I want to stay active, update my profile, and connect with more people in tech. I think these platforms will really help me grow step by step.</a:t>
            </a:r>
          </a:p>
          <a:p>
            <a:pPr algn="l">
              <a:lnSpc>
                <a:spcPts val="1907"/>
              </a:lnSpc>
            </a:pPr>
            <a:endParaRPr lang="en-US" sz="1362" b="1" dirty="0">
              <a:solidFill>
                <a:srgbClr val="0D0D0D"/>
              </a:solidFill>
              <a:latin typeface="Montserrat Bold"/>
              <a:ea typeface="Montserrat Bold"/>
              <a:cs typeface="Montserrat Bold"/>
              <a:sym typeface="Montserrat Bold"/>
            </a:endParaRPr>
          </a:p>
        </p:txBody>
      </p:sp>
      <p:grpSp>
        <p:nvGrpSpPr>
          <p:cNvPr id="6" name="Group 6"/>
          <p:cNvGrpSpPr/>
          <p:nvPr/>
        </p:nvGrpSpPr>
        <p:grpSpPr>
          <a:xfrm>
            <a:off x="3486150" y="0"/>
            <a:ext cx="1466042" cy="1421177"/>
            <a:chOff x="0" y="0"/>
            <a:chExt cx="525396" cy="1334070"/>
          </a:xfrm>
        </p:grpSpPr>
        <p:sp>
          <p:nvSpPr>
            <p:cNvPr id="7" name="Freeform 7"/>
            <p:cNvSpPr/>
            <p:nvPr/>
          </p:nvSpPr>
          <p:spPr>
            <a:xfrm>
              <a:off x="0" y="0"/>
              <a:ext cx="525396" cy="1334070"/>
            </a:xfrm>
            <a:custGeom>
              <a:avLst/>
              <a:gdLst/>
              <a:ahLst/>
              <a:cxnLst/>
              <a:rect l="l" t="t" r="r" b="b"/>
              <a:pathLst>
                <a:path w="525396" h="1334070">
                  <a:moveTo>
                    <a:pt x="0" y="0"/>
                  </a:moveTo>
                  <a:lnTo>
                    <a:pt x="525396" y="0"/>
                  </a:lnTo>
                  <a:lnTo>
                    <a:pt x="525396" y="1334070"/>
                  </a:lnTo>
                  <a:lnTo>
                    <a:pt x="0" y="1334070"/>
                  </a:lnTo>
                  <a:close/>
                </a:path>
              </a:pathLst>
            </a:custGeom>
            <a:solidFill>
              <a:srgbClr val="0097B2"/>
            </a:solidFill>
          </p:spPr>
          <p:txBody>
            <a:bodyPr/>
            <a:lstStyle/>
            <a:p>
              <a:endParaRPr lang="en-US"/>
            </a:p>
          </p:txBody>
        </p:sp>
        <p:sp>
          <p:nvSpPr>
            <p:cNvPr id="8" name="TextBox 8"/>
            <p:cNvSpPr txBox="1"/>
            <p:nvPr/>
          </p:nvSpPr>
          <p:spPr>
            <a:xfrm>
              <a:off x="0" y="-19050"/>
              <a:ext cx="525396" cy="1353120"/>
            </a:xfrm>
            <a:prstGeom prst="rect">
              <a:avLst/>
            </a:prstGeom>
          </p:spPr>
          <p:txBody>
            <a:bodyPr lIns="50800" tIns="50800" rIns="50800" bIns="50800" rtlCol="0" anchor="ctr"/>
            <a:lstStyle/>
            <a:p>
              <a:pPr algn="ctr">
                <a:lnSpc>
                  <a:spcPts val="1795"/>
                </a:lnSpc>
              </a:pPr>
              <a:endParaRPr/>
            </a:p>
          </p:txBody>
        </p:sp>
      </p:grpSp>
      <p:grpSp>
        <p:nvGrpSpPr>
          <p:cNvPr id="9" name="Group 9"/>
          <p:cNvGrpSpPr/>
          <p:nvPr/>
        </p:nvGrpSpPr>
        <p:grpSpPr>
          <a:xfrm>
            <a:off x="3486150" y="3196786"/>
            <a:ext cx="1466042" cy="1493339"/>
            <a:chOff x="0" y="0"/>
            <a:chExt cx="525396" cy="535179"/>
          </a:xfrm>
        </p:grpSpPr>
        <p:sp>
          <p:nvSpPr>
            <p:cNvPr id="10" name="Freeform 10"/>
            <p:cNvSpPr/>
            <p:nvPr/>
          </p:nvSpPr>
          <p:spPr>
            <a:xfrm>
              <a:off x="0" y="0"/>
              <a:ext cx="525396" cy="535179"/>
            </a:xfrm>
            <a:custGeom>
              <a:avLst/>
              <a:gdLst/>
              <a:ahLst/>
              <a:cxnLst/>
              <a:rect l="l" t="t" r="r" b="b"/>
              <a:pathLst>
                <a:path w="525396" h="535179">
                  <a:moveTo>
                    <a:pt x="0" y="0"/>
                  </a:moveTo>
                  <a:lnTo>
                    <a:pt x="525396" y="0"/>
                  </a:lnTo>
                  <a:lnTo>
                    <a:pt x="525396" y="535179"/>
                  </a:lnTo>
                  <a:lnTo>
                    <a:pt x="0" y="535179"/>
                  </a:lnTo>
                  <a:close/>
                </a:path>
              </a:pathLst>
            </a:custGeom>
            <a:solidFill>
              <a:srgbClr val="0097B2"/>
            </a:solidFill>
          </p:spPr>
          <p:txBody>
            <a:bodyPr/>
            <a:lstStyle/>
            <a:p>
              <a:endParaRPr lang="en-US"/>
            </a:p>
          </p:txBody>
        </p:sp>
        <p:sp>
          <p:nvSpPr>
            <p:cNvPr id="11" name="TextBox 11"/>
            <p:cNvSpPr txBox="1"/>
            <p:nvPr/>
          </p:nvSpPr>
          <p:spPr>
            <a:xfrm>
              <a:off x="0" y="-19050"/>
              <a:ext cx="525396" cy="554229"/>
            </a:xfrm>
            <a:prstGeom prst="rect">
              <a:avLst/>
            </a:prstGeom>
          </p:spPr>
          <p:txBody>
            <a:bodyPr lIns="50800" tIns="50800" rIns="50800" bIns="50800" rtlCol="0" anchor="ctr"/>
            <a:lstStyle/>
            <a:p>
              <a:pPr algn="ctr">
                <a:lnSpc>
                  <a:spcPts val="1795"/>
                </a:lnSpc>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EFBF"/>
        </a:solidFill>
        <a:effectLst/>
      </p:bgPr>
    </p:bg>
    <p:spTree>
      <p:nvGrpSpPr>
        <p:cNvPr id="1" name=""/>
        <p:cNvGrpSpPr/>
        <p:nvPr/>
      </p:nvGrpSpPr>
      <p:grpSpPr>
        <a:xfrm>
          <a:off x="0" y="0"/>
          <a:ext cx="0" cy="0"/>
          <a:chOff x="0" y="0"/>
          <a:chExt cx="0" cy="0"/>
        </a:xfrm>
      </p:grpSpPr>
      <p:sp>
        <p:nvSpPr>
          <p:cNvPr id="2" name="TextBox 2"/>
          <p:cNvSpPr txBox="1"/>
          <p:nvPr/>
        </p:nvSpPr>
        <p:spPr>
          <a:xfrm>
            <a:off x="820742" y="4320245"/>
            <a:ext cx="5915015" cy="6373155"/>
          </a:xfrm>
          <a:prstGeom prst="rect">
            <a:avLst/>
          </a:prstGeom>
        </p:spPr>
        <p:txBody>
          <a:bodyPr wrap="square" lIns="0" tIns="0" rIns="0" bIns="0" rtlCol="0" anchor="t">
            <a:spAutoFit/>
          </a:bodyPr>
          <a:lstStyle/>
          <a:p>
            <a:pPr algn="just">
              <a:lnSpc>
                <a:spcPct val="150000"/>
              </a:lnSpc>
            </a:pPr>
            <a:r>
              <a:rPr lang="en-US" sz="1399" b="1" dirty="0">
                <a:solidFill>
                  <a:srgbClr val="000001"/>
                </a:solidFill>
                <a:latin typeface="Arial" panose="020B0604020202020204" pitchFamily="34" charset="0"/>
                <a:ea typeface="Montserrat Bold"/>
                <a:cs typeface="Arial" panose="020B0604020202020204" pitchFamily="34" charset="0"/>
                <a:sym typeface="Montserrat Bold"/>
              </a:rPr>
              <a:t>For this part of the task, I created an account on </a:t>
            </a:r>
            <a:r>
              <a:rPr lang="en-US" sz="1399" b="1" dirty="0" err="1">
                <a:solidFill>
                  <a:srgbClr val="000001"/>
                </a:solidFill>
                <a:latin typeface="Arial" panose="020B0604020202020204" pitchFamily="34" charset="0"/>
                <a:ea typeface="Montserrat Bold"/>
                <a:cs typeface="Arial" panose="020B0604020202020204" pitchFamily="34" charset="0"/>
                <a:sym typeface="Montserrat Bold"/>
              </a:rPr>
              <a:t>HackerRank</a:t>
            </a:r>
            <a:r>
              <a:rPr lang="en-US" sz="1399" b="1" dirty="0">
                <a:solidFill>
                  <a:srgbClr val="000001"/>
                </a:solidFill>
                <a:latin typeface="Arial" panose="020B0604020202020204" pitchFamily="34" charset="0"/>
                <a:ea typeface="Montserrat Bold"/>
                <a:cs typeface="Arial" panose="020B0604020202020204" pitchFamily="34" charset="0"/>
                <a:sym typeface="Montserrat Bold"/>
              </a:rPr>
              <a:t> and explored its coding practice platform. I completed beginner-level Python challenges and also attempted the Python (Basic) certification test. While solving the problems, I got a better understanding of basic concepts like loops, conditions, and working with different data types.</a:t>
            </a:r>
          </a:p>
          <a:p>
            <a:pPr algn="just">
              <a:lnSpc>
                <a:spcPct val="150000"/>
              </a:lnSpc>
            </a:pPr>
            <a:endParaRPr lang="en-US" sz="1399" b="1" dirty="0">
              <a:solidFill>
                <a:srgbClr val="000001"/>
              </a:solidFill>
              <a:latin typeface="Arial" panose="020B0604020202020204" pitchFamily="34" charset="0"/>
              <a:ea typeface="Montserrat Bold"/>
              <a:cs typeface="Arial" panose="020B0604020202020204" pitchFamily="34" charset="0"/>
              <a:sym typeface="Montserrat Bold"/>
            </a:endParaRPr>
          </a:p>
          <a:p>
            <a:pPr algn="just">
              <a:lnSpc>
                <a:spcPct val="150000"/>
              </a:lnSpc>
            </a:pPr>
            <a:r>
              <a:rPr lang="en-US" sz="1399" b="1" dirty="0">
                <a:solidFill>
                  <a:srgbClr val="000001"/>
                </a:solidFill>
                <a:latin typeface="Arial" panose="020B0604020202020204" pitchFamily="34" charset="0"/>
                <a:ea typeface="Montserrat Bold"/>
                <a:cs typeface="Arial" panose="020B0604020202020204" pitchFamily="34" charset="0"/>
                <a:sym typeface="Montserrat Bold"/>
              </a:rPr>
              <a:t>At first, some questions were not very easy, and I had to try multiple times before getting the correct output. But that process actually helped me learn more, because I understood where I was making mistakes. The platform also gives instant feedback, which made it easier to improve step by step.</a:t>
            </a:r>
          </a:p>
          <a:p>
            <a:pPr algn="just">
              <a:lnSpc>
                <a:spcPct val="150000"/>
              </a:lnSpc>
            </a:pPr>
            <a:endParaRPr lang="en-US" sz="1399" b="1" dirty="0">
              <a:solidFill>
                <a:srgbClr val="000001"/>
              </a:solidFill>
              <a:latin typeface="Arial" panose="020B0604020202020204" pitchFamily="34" charset="0"/>
              <a:ea typeface="Montserrat Bold"/>
              <a:cs typeface="Arial" panose="020B0604020202020204" pitchFamily="34" charset="0"/>
              <a:sym typeface="Montserrat Bold"/>
            </a:endParaRPr>
          </a:p>
          <a:p>
            <a:pPr algn="just">
              <a:lnSpc>
                <a:spcPct val="150000"/>
              </a:lnSpc>
            </a:pPr>
            <a:r>
              <a:rPr lang="en-US" sz="1399" b="1" dirty="0">
                <a:solidFill>
                  <a:srgbClr val="000001"/>
                </a:solidFill>
                <a:latin typeface="Arial" panose="020B0604020202020204" pitchFamily="34" charset="0"/>
                <a:ea typeface="Montserrat Bold"/>
                <a:cs typeface="Arial" panose="020B0604020202020204" pitchFamily="34" charset="0"/>
                <a:sym typeface="Montserrat Bold"/>
              </a:rPr>
              <a:t>I also earned a Python badge and completed a few days of coding practice, which motivated me to stay consistent.</a:t>
            </a:r>
          </a:p>
          <a:p>
            <a:pPr algn="just">
              <a:lnSpc>
                <a:spcPct val="150000"/>
              </a:lnSpc>
            </a:pPr>
            <a:endParaRPr lang="en-US" sz="1399" b="1" dirty="0">
              <a:solidFill>
                <a:srgbClr val="000001"/>
              </a:solidFill>
              <a:latin typeface="Arial" panose="020B0604020202020204" pitchFamily="34" charset="0"/>
              <a:ea typeface="Montserrat Bold"/>
              <a:cs typeface="Arial" panose="020B0604020202020204" pitchFamily="34" charset="0"/>
              <a:sym typeface="Montserrat Bold"/>
            </a:endParaRPr>
          </a:p>
          <a:p>
            <a:pPr algn="just">
              <a:lnSpc>
                <a:spcPct val="150000"/>
              </a:lnSpc>
            </a:pPr>
            <a:r>
              <a:rPr lang="en-US" sz="1399" b="1" dirty="0">
                <a:solidFill>
                  <a:srgbClr val="000001"/>
                </a:solidFill>
                <a:latin typeface="Arial" panose="020B0604020202020204" pitchFamily="34" charset="0"/>
                <a:ea typeface="Montserrat Bold"/>
                <a:cs typeface="Arial" panose="020B0604020202020204" pitchFamily="34" charset="0"/>
                <a:sym typeface="Montserrat Bold"/>
              </a:rPr>
              <a:t>This experience will help me academically as it improves my logical thinking and coding skills. It will also be useful for future subjects, projects, and technical interviews where problem-solving is important.</a:t>
            </a:r>
          </a:p>
          <a:p>
            <a:pPr algn="just">
              <a:lnSpc>
                <a:spcPts val="1959"/>
              </a:lnSpc>
            </a:pPr>
            <a:endParaRPr lang="en-US" sz="1399" b="1" dirty="0">
              <a:solidFill>
                <a:srgbClr val="000001"/>
              </a:solidFill>
              <a:latin typeface="Montserrat Bold"/>
              <a:ea typeface="Montserrat Bold"/>
              <a:cs typeface="Montserrat Bold"/>
              <a:sym typeface="Montserrat Bold"/>
            </a:endParaRPr>
          </a:p>
        </p:txBody>
      </p:sp>
      <p:grpSp>
        <p:nvGrpSpPr>
          <p:cNvPr id="3" name="Group 3"/>
          <p:cNvGrpSpPr/>
          <p:nvPr/>
        </p:nvGrpSpPr>
        <p:grpSpPr>
          <a:xfrm rot="-5400000">
            <a:off x="822643" y="1189942"/>
            <a:ext cx="1466042" cy="3111324"/>
            <a:chOff x="0" y="0"/>
            <a:chExt cx="525396" cy="1334070"/>
          </a:xfrm>
        </p:grpSpPr>
        <p:sp>
          <p:nvSpPr>
            <p:cNvPr id="4" name="Freeform 4"/>
            <p:cNvSpPr/>
            <p:nvPr/>
          </p:nvSpPr>
          <p:spPr>
            <a:xfrm>
              <a:off x="0" y="0"/>
              <a:ext cx="525396" cy="1334070"/>
            </a:xfrm>
            <a:custGeom>
              <a:avLst/>
              <a:gdLst/>
              <a:ahLst/>
              <a:cxnLst/>
              <a:rect l="l" t="t" r="r" b="b"/>
              <a:pathLst>
                <a:path w="525396" h="1334070">
                  <a:moveTo>
                    <a:pt x="0" y="0"/>
                  </a:moveTo>
                  <a:lnTo>
                    <a:pt x="525396" y="0"/>
                  </a:lnTo>
                  <a:lnTo>
                    <a:pt x="525396" y="1334070"/>
                  </a:lnTo>
                  <a:lnTo>
                    <a:pt x="0" y="1334070"/>
                  </a:lnTo>
                  <a:close/>
                </a:path>
              </a:pathLst>
            </a:custGeom>
            <a:solidFill>
              <a:srgbClr val="0097B2"/>
            </a:solidFill>
          </p:spPr>
          <p:txBody>
            <a:bodyPr/>
            <a:lstStyle/>
            <a:p>
              <a:endParaRPr lang="en-US"/>
            </a:p>
          </p:txBody>
        </p:sp>
        <p:sp>
          <p:nvSpPr>
            <p:cNvPr id="5" name="TextBox 5"/>
            <p:cNvSpPr txBox="1"/>
            <p:nvPr/>
          </p:nvSpPr>
          <p:spPr>
            <a:xfrm>
              <a:off x="0" y="-19050"/>
              <a:ext cx="525396" cy="1353120"/>
            </a:xfrm>
            <a:prstGeom prst="rect">
              <a:avLst/>
            </a:prstGeom>
          </p:spPr>
          <p:txBody>
            <a:bodyPr lIns="50800" tIns="50800" rIns="50800" bIns="50800" rtlCol="0" anchor="ctr"/>
            <a:lstStyle/>
            <a:p>
              <a:pPr algn="ctr">
                <a:lnSpc>
                  <a:spcPts val="1795"/>
                </a:lnSpc>
              </a:pPr>
              <a:endParaRPr/>
            </a:p>
          </p:txBody>
        </p:sp>
      </p:grpSp>
      <p:grpSp>
        <p:nvGrpSpPr>
          <p:cNvPr id="6" name="Group 6"/>
          <p:cNvGrpSpPr/>
          <p:nvPr/>
        </p:nvGrpSpPr>
        <p:grpSpPr>
          <a:xfrm rot="-5400000">
            <a:off x="6396048" y="2318170"/>
            <a:ext cx="1466042" cy="854868"/>
            <a:chOff x="0" y="0"/>
            <a:chExt cx="525396" cy="1334070"/>
          </a:xfrm>
        </p:grpSpPr>
        <p:sp>
          <p:nvSpPr>
            <p:cNvPr id="7" name="Freeform 7"/>
            <p:cNvSpPr/>
            <p:nvPr/>
          </p:nvSpPr>
          <p:spPr>
            <a:xfrm>
              <a:off x="0" y="0"/>
              <a:ext cx="525396" cy="1334070"/>
            </a:xfrm>
            <a:custGeom>
              <a:avLst/>
              <a:gdLst/>
              <a:ahLst/>
              <a:cxnLst/>
              <a:rect l="l" t="t" r="r" b="b"/>
              <a:pathLst>
                <a:path w="525396" h="1334070">
                  <a:moveTo>
                    <a:pt x="0" y="0"/>
                  </a:moveTo>
                  <a:lnTo>
                    <a:pt x="525396" y="0"/>
                  </a:lnTo>
                  <a:lnTo>
                    <a:pt x="525396" y="1334070"/>
                  </a:lnTo>
                  <a:lnTo>
                    <a:pt x="0" y="1334070"/>
                  </a:lnTo>
                  <a:close/>
                </a:path>
              </a:pathLst>
            </a:custGeom>
            <a:solidFill>
              <a:srgbClr val="0097B2"/>
            </a:solidFill>
          </p:spPr>
          <p:txBody>
            <a:bodyPr/>
            <a:lstStyle/>
            <a:p>
              <a:endParaRPr lang="en-US"/>
            </a:p>
          </p:txBody>
        </p:sp>
        <p:sp>
          <p:nvSpPr>
            <p:cNvPr id="8" name="TextBox 8"/>
            <p:cNvSpPr txBox="1"/>
            <p:nvPr/>
          </p:nvSpPr>
          <p:spPr>
            <a:xfrm>
              <a:off x="0" y="-19050"/>
              <a:ext cx="525396" cy="1353120"/>
            </a:xfrm>
            <a:prstGeom prst="rect">
              <a:avLst/>
            </a:prstGeom>
          </p:spPr>
          <p:txBody>
            <a:bodyPr lIns="50800" tIns="50800" rIns="50800" bIns="50800" rtlCol="0" anchor="ctr"/>
            <a:lstStyle/>
            <a:p>
              <a:pPr algn="ctr">
                <a:lnSpc>
                  <a:spcPts val="1795"/>
                </a:lnSpc>
              </a:pPr>
              <a:endParaRPr/>
            </a:p>
          </p:txBody>
        </p:sp>
      </p:grpSp>
      <p:grpSp>
        <p:nvGrpSpPr>
          <p:cNvPr id="9" name="Group 9"/>
          <p:cNvGrpSpPr/>
          <p:nvPr/>
        </p:nvGrpSpPr>
        <p:grpSpPr>
          <a:xfrm>
            <a:off x="3248286" y="1587156"/>
            <a:ext cx="3316386" cy="2316894"/>
            <a:chOff x="0" y="0"/>
            <a:chExt cx="4421847" cy="3089192"/>
          </a:xfrm>
        </p:grpSpPr>
        <p:sp>
          <p:nvSpPr>
            <p:cNvPr id="10" name="TextBox 10"/>
            <p:cNvSpPr txBox="1"/>
            <p:nvPr/>
          </p:nvSpPr>
          <p:spPr>
            <a:xfrm>
              <a:off x="0" y="2693349"/>
              <a:ext cx="3776833" cy="267002"/>
            </a:xfrm>
            <a:prstGeom prst="rect">
              <a:avLst/>
            </a:prstGeom>
          </p:spPr>
          <p:txBody>
            <a:bodyPr lIns="0" tIns="0" rIns="0" bIns="0" rtlCol="0" anchor="t">
              <a:spAutoFit/>
            </a:bodyPr>
            <a:lstStyle/>
            <a:p>
              <a:pPr algn="l">
                <a:lnSpc>
                  <a:spcPts val="1721"/>
                </a:lnSpc>
              </a:pPr>
              <a:r>
                <a:rPr lang="en-US" sz="1229" b="1">
                  <a:solidFill>
                    <a:srgbClr val="000001"/>
                  </a:solidFill>
                  <a:latin typeface="Montserrat Bold"/>
                  <a:ea typeface="Montserrat Bold"/>
                  <a:cs typeface="Montserrat Bold"/>
                  <a:sym typeface="Montserrat Bold"/>
                </a:rPr>
                <a:t>MODULE 3 - TASK 3 - PART A</a:t>
              </a:r>
            </a:p>
          </p:txBody>
        </p:sp>
        <p:sp>
          <p:nvSpPr>
            <p:cNvPr id="11" name="TextBox 11"/>
            <p:cNvSpPr txBox="1"/>
            <p:nvPr/>
          </p:nvSpPr>
          <p:spPr>
            <a:xfrm>
              <a:off x="0" y="0"/>
              <a:ext cx="4421847" cy="3089192"/>
            </a:xfrm>
            <a:prstGeom prst="rect">
              <a:avLst/>
            </a:prstGeom>
          </p:spPr>
          <p:txBody>
            <a:bodyPr lIns="0" tIns="0" rIns="0" bIns="0" rtlCol="0" anchor="t">
              <a:spAutoFit/>
            </a:bodyPr>
            <a:lstStyle/>
            <a:p>
              <a:pPr algn="just">
                <a:lnSpc>
                  <a:spcPts val="3633"/>
                </a:lnSpc>
              </a:pPr>
              <a:r>
                <a:rPr lang="en-US" sz="3135" b="1" dirty="0">
                  <a:solidFill>
                    <a:srgbClr val="0097B2"/>
                  </a:solidFill>
                  <a:latin typeface="Arial" panose="020B0604020202020204" pitchFamily="34" charset="0"/>
                  <a:ea typeface="Arvo Bold"/>
                  <a:cs typeface="Arial" panose="020B0604020202020204" pitchFamily="34" charset="0"/>
                  <a:sym typeface="Arvo Bold"/>
                </a:rPr>
                <a:t>Explore Coding &amp; Collaboration Platforms - Report</a:t>
              </a:r>
            </a:p>
            <a:p>
              <a:pPr algn="just">
                <a:lnSpc>
                  <a:spcPts val="3866"/>
                </a:lnSpc>
              </a:pPr>
              <a:endParaRPr lang="en-US" sz="3135" b="1" dirty="0">
                <a:solidFill>
                  <a:srgbClr val="0097B2"/>
                </a:solidFill>
                <a:latin typeface="Arvo Bold"/>
                <a:ea typeface="Arvo Bold"/>
                <a:cs typeface="Arvo Bold"/>
                <a:sym typeface="Arvo Bold"/>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EFBF"/>
        </a:solidFill>
        <a:effectLst/>
      </p:bgPr>
    </p:bg>
    <p:spTree>
      <p:nvGrpSpPr>
        <p:cNvPr id="1" name=""/>
        <p:cNvGrpSpPr/>
        <p:nvPr/>
      </p:nvGrpSpPr>
      <p:grpSpPr>
        <a:xfrm>
          <a:off x="0" y="0"/>
          <a:ext cx="0" cy="0"/>
          <a:chOff x="0" y="0"/>
          <a:chExt cx="0" cy="0"/>
        </a:xfrm>
      </p:grpSpPr>
      <p:grpSp>
        <p:nvGrpSpPr>
          <p:cNvPr id="2" name="Group 2"/>
          <p:cNvGrpSpPr/>
          <p:nvPr/>
        </p:nvGrpSpPr>
        <p:grpSpPr>
          <a:xfrm>
            <a:off x="3231104" y="1643772"/>
            <a:ext cx="3350751" cy="2372765"/>
            <a:chOff x="0" y="0"/>
            <a:chExt cx="4467668" cy="3163687"/>
          </a:xfrm>
        </p:grpSpPr>
        <p:sp>
          <p:nvSpPr>
            <p:cNvPr id="3" name="TextBox 3"/>
            <p:cNvSpPr txBox="1"/>
            <p:nvPr/>
          </p:nvSpPr>
          <p:spPr>
            <a:xfrm>
              <a:off x="0" y="2819767"/>
              <a:ext cx="3939030" cy="267716"/>
            </a:xfrm>
            <a:prstGeom prst="rect">
              <a:avLst/>
            </a:prstGeom>
          </p:spPr>
          <p:txBody>
            <a:bodyPr lIns="0" tIns="0" rIns="0" bIns="0" rtlCol="0" anchor="t">
              <a:spAutoFit/>
            </a:bodyPr>
            <a:lstStyle/>
            <a:p>
              <a:pPr algn="l">
                <a:lnSpc>
                  <a:spcPts val="1795"/>
                </a:lnSpc>
              </a:pPr>
              <a:r>
                <a:rPr lang="en-US" sz="1282" b="1">
                  <a:solidFill>
                    <a:srgbClr val="000001"/>
                  </a:solidFill>
                  <a:latin typeface="Montserrat Bold"/>
                  <a:ea typeface="Montserrat Bold"/>
                  <a:cs typeface="Montserrat Bold"/>
                  <a:sym typeface="Montserrat Bold"/>
                </a:rPr>
                <a:t>MODULE 3 - TASK 3 - PART B</a:t>
              </a:r>
            </a:p>
          </p:txBody>
        </p:sp>
        <p:sp>
          <p:nvSpPr>
            <p:cNvPr id="4" name="TextBox 4"/>
            <p:cNvSpPr txBox="1"/>
            <p:nvPr/>
          </p:nvSpPr>
          <p:spPr>
            <a:xfrm>
              <a:off x="0" y="0"/>
              <a:ext cx="4467668" cy="3163687"/>
            </a:xfrm>
            <a:prstGeom prst="rect">
              <a:avLst/>
            </a:prstGeom>
          </p:spPr>
          <p:txBody>
            <a:bodyPr lIns="0" tIns="0" rIns="0" bIns="0" rtlCol="0" anchor="t">
              <a:spAutoFit/>
            </a:bodyPr>
            <a:lstStyle/>
            <a:p>
              <a:pPr algn="just">
                <a:lnSpc>
                  <a:spcPts val="3671"/>
                </a:lnSpc>
              </a:pPr>
              <a:r>
                <a:rPr lang="en-US" sz="3167" b="1" dirty="0">
                  <a:solidFill>
                    <a:srgbClr val="0097B2"/>
                  </a:solidFill>
                  <a:latin typeface="Arial" panose="020B0604020202020204" pitchFamily="34" charset="0"/>
                  <a:ea typeface="Arvo Bold"/>
                  <a:cs typeface="Arial" panose="020B0604020202020204" pitchFamily="34" charset="0"/>
                  <a:sym typeface="Arvo Bold"/>
                </a:rPr>
                <a:t>Explore Coding &amp; Collaboration Platforms - Report</a:t>
              </a:r>
            </a:p>
            <a:p>
              <a:pPr algn="just">
                <a:lnSpc>
                  <a:spcPts val="3906"/>
                </a:lnSpc>
              </a:pPr>
              <a:endParaRPr lang="en-US" sz="3167" b="1" dirty="0">
                <a:solidFill>
                  <a:srgbClr val="0097B2"/>
                </a:solidFill>
                <a:latin typeface="Arvo Bold"/>
                <a:ea typeface="Arvo Bold"/>
                <a:cs typeface="Arvo Bold"/>
                <a:sym typeface="Arvo Bold"/>
              </a:endParaRPr>
            </a:p>
          </p:txBody>
        </p:sp>
      </p:grpSp>
      <p:sp>
        <p:nvSpPr>
          <p:cNvPr id="5" name="TextBox 5"/>
          <p:cNvSpPr txBox="1"/>
          <p:nvPr/>
        </p:nvSpPr>
        <p:spPr>
          <a:xfrm>
            <a:off x="452754" y="4584700"/>
            <a:ext cx="6670211" cy="5636671"/>
          </a:xfrm>
          <a:prstGeom prst="rect">
            <a:avLst/>
          </a:prstGeom>
        </p:spPr>
        <p:txBody>
          <a:bodyPr wrap="square" lIns="0" tIns="0" rIns="0" bIns="0" rtlCol="0" anchor="t">
            <a:spAutoFit/>
          </a:bodyPr>
          <a:lstStyle/>
          <a:p>
            <a:pPr algn="just">
              <a:lnSpc>
                <a:spcPct val="150000"/>
              </a:lnSpc>
            </a:pPr>
            <a:r>
              <a:rPr lang="en-US" sz="1538" b="1" dirty="0">
                <a:solidFill>
                  <a:srgbClr val="000001"/>
                </a:solidFill>
                <a:latin typeface="Arial" panose="020B0604020202020204" pitchFamily="34" charset="0"/>
                <a:ea typeface="Montserrat Bold"/>
                <a:cs typeface="Arial" panose="020B0604020202020204" pitchFamily="34" charset="0"/>
                <a:sym typeface="Montserrat Bold"/>
              </a:rPr>
              <a:t>The form was revised to incorporate five novel inquiries concerning digital literacy, secure internet practices, and online personas. A variety of question formats were employed, including a single short-answer question, multiple-choice options, and checkboxes. The process of formulating these questions presented both challenges and intrigue, particularly in considering the most appropriate and comprehensible phrasing for a child audience.</a:t>
            </a:r>
          </a:p>
          <a:p>
            <a:pPr algn="just">
              <a:lnSpc>
                <a:spcPct val="150000"/>
              </a:lnSpc>
            </a:pPr>
            <a:endParaRPr lang="en-US" sz="1538" b="1" dirty="0">
              <a:solidFill>
                <a:srgbClr val="000001"/>
              </a:solidFill>
              <a:latin typeface="Arial" panose="020B0604020202020204" pitchFamily="34" charset="0"/>
              <a:ea typeface="Montserrat Bold"/>
              <a:cs typeface="Arial" panose="020B0604020202020204" pitchFamily="34" charset="0"/>
              <a:sym typeface="Montserrat Bold"/>
            </a:endParaRPr>
          </a:p>
          <a:p>
            <a:pPr algn="just">
              <a:lnSpc>
                <a:spcPct val="150000"/>
              </a:lnSpc>
            </a:pPr>
            <a:r>
              <a:rPr lang="en-US" sz="1538" b="1" dirty="0">
                <a:solidFill>
                  <a:srgbClr val="000001"/>
                </a:solidFill>
                <a:latin typeface="Arial" panose="020B0604020202020204" pitchFamily="34" charset="0"/>
                <a:ea typeface="Montserrat Bold"/>
                <a:cs typeface="Arial" panose="020B0604020202020204" pitchFamily="34" charset="0"/>
                <a:sym typeface="Montserrat Bold"/>
              </a:rPr>
              <a:t>Seeing that everything is automatically saved when I checked the response logging was a relief. It streamlines the process and helps keep everything tidy.</a:t>
            </a:r>
          </a:p>
          <a:p>
            <a:pPr algn="just">
              <a:lnSpc>
                <a:spcPct val="150000"/>
              </a:lnSpc>
            </a:pPr>
            <a:endParaRPr lang="en-US" sz="1538" b="1" dirty="0">
              <a:solidFill>
                <a:srgbClr val="000001"/>
              </a:solidFill>
              <a:latin typeface="Arial" panose="020B0604020202020204" pitchFamily="34" charset="0"/>
              <a:ea typeface="Montserrat Bold"/>
              <a:cs typeface="Arial" panose="020B0604020202020204" pitchFamily="34" charset="0"/>
              <a:sym typeface="Montserrat Bold"/>
            </a:endParaRPr>
          </a:p>
          <a:p>
            <a:pPr algn="just">
              <a:lnSpc>
                <a:spcPct val="150000"/>
              </a:lnSpc>
            </a:pPr>
            <a:r>
              <a:rPr lang="en-US" sz="1538" b="1" dirty="0">
                <a:solidFill>
                  <a:srgbClr val="000001"/>
                </a:solidFill>
                <a:latin typeface="Arial" panose="020B0604020202020204" pitchFamily="34" charset="0"/>
                <a:ea typeface="Montserrat Bold"/>
                <a:cs typeface="Arial" panose="020B0604020202020204" pitchFamily="34" charset="0"/>
                <a:sym typeface="Montserrat Bold"/>
              </a:rPr>
              <a:t>All in all, this exercise helped me understand how these kinds of tools could be useful for research. In the future, I think I'll be able to use Google Forms for things like quick project surveys, tests, and feedback.</a:t>
            </a:r>
          </a:p>
        </p:txBody>
      </p:sp>
      <p:grpSp>
        <p:nvGrpSpPr>
          <p:cNvPr id="6" name="Group 6"/>
          <p:cNvGrpSpPr/>
          <p:nvPr/>
        </p:nvGrpSpPr>
        <p:grpSpPr>
          <a:xfrm rot="-5400000">
            <a:off x="822643" y="1189942"/>
            <a:ext cx="1466042" cy="3111324"/>
            <a:chOff x="0" y="0"/>
            <a:chExt cx="525396" cy="1334070"/>
          </a:xfrm>
        </p:grpSpPr>
        <p:sp>
          <p:nvSpPr>
            <p:cNvPr id="7" name="Freeform 7"/>
            <p:cNvSpPr/>
            <p:nvPr/>
          </p:nvSpPr>
          <p:spPr>
            <a:xfrm>
              <a:off x="0" y="0"/>
              <a:ext cx="525396" cy="1334070"/>
            </a:xfrm>
            <a:custGeom>
              <a:avLst/>
              <a:gdLst/>
              <a:ahLst/>
              <a:cxnLst/>
              <a:rect l="l" t="t" r="r" b="b"/>
              <a:pathLst>
                <a:path w="525396" h="1334070">
                  <a:moveTo>
                    <a:pt x="0" y="0"/>
                  </a:moveTo>
                  <a:lnTo>
                    <a:pt x="525396" y="0"/>
                  </a:lnTo>
                  <a:lnTo>
                    <a:pt x="525396" y="1334070"/>
                  </a:lnTo>
                  <a:lnTo>
                    <a:pt x="0" y="1334070"/>
                  </a:lnTo>
                  <a:close/>
                </a:path>
              </a:pathLst>
            </a:custGeom>
            <a:solidFill>
              <a:srgbClr val="0097B2"/>
            </a:solidFill>
          </p:spPr>
          <p:txBody>
            <a:bodyPr/>
            <a:lstStyle/>
            <a:p>
              <a:endParaRPr lang="en-US"/>
            </a:p>
          </p:txBody>
        </p:sp>
        <p:sp>
          <p:nvSpPr>
            <p:cNvPr id="8" name="TextBox 8"/>
            <p:cNvSpPr txBox="1"/>
            <p:nvPr/>
          </p:nvSpPr>
          <p:spPr>
            <a:xfrm>
              <a:off x="0" y="-19050"/>
              <a:ext cx="525396" cy="1353120"/>
            </a:xfrm>
            <a:prstGeom prst="rect">
              <a:avLst/>
            </a:prstGeom>
          </p:spPr>
          <p:txBody>
            <a:bodyPr lIns="50800" tIns="50800" rIns="50800" bIns="50800" rtlCol="0" anchor="ctr"/>
            <a:lstStyle/>
            <a:p>
              <a:pPr algn="ctr">
                <a:lnSpc>
                  <a:spcPts val="1795"/>
                </a:lnSpc>
              </a:pPr>
              <a:endParaRPr/>
            </a:p>
          </p:txBody>
        </p:sp>
      </p:grpSp>
      <p:grpSp>
        <p:nvGrpSpPr>
          <p:cNvPr id="9" name="Group 9"/>
          <p:cNvGrpSpPr/>
          <p:nvPr/>
        </p:nvGrpSpPr>
        <p:grpSpPr>
          <a:xfrm rot="-5400000">
            <a:off x="6396048" y="2318170"/>
            <a:ext cx="1466042" cy="854868"/>
            <a:chOff x="0" y="0"/>
            <a:chExt cx="525396" cy="1334070"/>
          </a:xfrm>
        </p:grpSpPr>
        <p:sp>
          <p:nvSpPr>
            <p:cNvPr id="10" name="Freeform 10"/>
            <p:cNvSpPr/>
            <p:nvPr/>
          </p:nvSpPr>
          <p:spPr>
            <a:xfrm>
              <a:off x="0" y="0"/>
              <a:ext cx="525396" cy="1334070"/>
            </a:xfrm>
            <a:custGeom>
              <a:avLst/>
              <a:gdLst/>
              <a:ahLst/>
              <a:cxnLst/>
              <a:rect l="l" t="t" r="r" b="b"/>
              <a:pathLst>
                <a:path w="525396" h="1334070">
                  <a:moveTo>
                    <a:pt x="0" y="0"/>
                  </a:moveTo>
                  <a:lnTo>
                    <a:pt x="525396" y="0"/>
                  </a:lnTo>
                  <a:lnTo>
                    <a:pt x="525396" y="1334070"/>
                  </a:lnTo>
                  <a:lnTo>
                    <a:pt x="0" y="1334070"/>
                  </a:lnTo>
                  <a:close/>
                </a:path>
              </a:pathLst>
            </a:custGeom>
            <a:solidFill>
              <a:srgbClr val="0097B2"/>
            </a:solidFill>
          </p:spPr>
          <p:txBody>
            <a:bodyPr/>
            <a:lstStyle/>
            <a:p>
              <a:endParaRPr lang="en-US"/>
            </a:p>
          </p:txBody>
        </p:sp>
        <p:sp>
          <p:nvSpPr>
            <p:cNvPr id="11" name="TextBox 11"/>
            <p:cNvSpPr txBox="1"/>
            <p:nvPr/>
          </p:nvSpPr>
          <p:spPr>
            <a:xfrm>
              <a:off x="0" y="-19050"/>
              <a:ext cx="525396" cy="1353120"/>
            </a:xfrm>
            <a:prstGeom prst="rect">
              <a:avLst/>
            </a:prstGeom>
          </p:spPr>
          <p:txBody>
            <a:bodyPr lIns="50800" tIns="50800" rIns="50800" bIns="50800" rtlCol="0" anchor="ctr"/>
            <a:lstStyle/>
            <a:p>
              <a:pPr algn="ctr">
                <a:lnSpc>
                  <a:spcPts val="1795"/>
                </a:lnSpc>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EFBF"/>
        </a:solidFill>
        <a:effectLst/>
      </p:bgPr>
    </p:bg>
    <p:spTree>
      <p:nvGrpSpPr>
        <p:cNvPr id="1" name=""/>
        <p:cNvGrpSpPr/>
        <p:nvPr/>
      </p:nvGrpSpPr>
      <p:grpSpPr>
        <a:xfrm>
          <a:off x="0" y="0"/>
          <a:ext cx="0" cy="0"/>
          <a:chOff x="0" y="0"/>
          <a:chExt cx="0" cy="0"/>
        </a:xfrm>
      </p:grpSpPr>
      <p:grpSp>
        <p:nvGrpSpPr>
          <p:cNvPr id="2" name="Group 2"/>
          <p:cNvGrpSpPr/>
          <p:nvPr/>
        </p:nvGrpSpPr>
        <p:grpSpPr>
          <a:xfrm>
            <a:off x="3168650" y="1199656"/>
            <a:ext cx="3124200" cy="1867820"/>
            <a:chOff x="3072" y="-9525"/>
            <a:chExt cx="4165600" cy="2490425"/>
          </a:xfrm>
        </p:grpSpPr>
        <p:sp>
          <p:nvSpPr>
            <p:cNvPr id="3" name="TextBox 3"/>
            <p:cNvSpPr txBox="1"/>
            <p:nvPr/>
          </p:nvSpPr>
          <p:spPr>
            <a:xfrm>
              <a:off x="3072" y="2141506"/>
              <a:ext cx="3939031" cy="299255"/>
            </a:xfrm>
            <a:prstGeom prst="rect">
              <a:avLst/>
            </a:prstGeom>
          </p:spPr>
          <p:txBody>
            <a:bodyPr lIns="0" tIns="0" rIns="0" bIns="0" rtlCol="0" anchor="t">
              <a:spAutoFit/>
            </a:bodyPr>
            <a:lstStyle/>
            <a:p>
              <a:pPr algn="r">
                <a:lnSpc>
                  <a:spcPts val="1935"/>
                </a:lnSpc>
              </a:pPr>
              <a:r>
                <a:rPr lang="en-US" sz="1382" b="1" dirty="0">
                  <a:solidFill>
                    <a:srgbClr val="0D0D0D"/>
                  </a:solidFill>
                  <a:latin typeface="Montserrat Bold"/>
                  <a:ea typeface="Montserrat Bold"/>
                  <a:cs typeface="Montserrat Bold"/>
                  <a:sym typeface="Montserrat Bold"/>
                </a:rPr>
                <a:t>MODULE 4 - TASK 4 - PART B</a:t>
              </a:r>
            </a:p>
          </p:txBody>
        </p:sp>
        <p:sp>
          <p:nvSpPr>
            <p:cNvPr id="4" name="TextBox 4"/>
            <p:cNvSpPr txBox="1"/>
            <p:nvPr/>
          </p:nvSpPr>
          <p:spPr>
            <a:xfrm>
              <a:off x="416977" y="-9525"/>
              <a:ext cx="3751695" cy="2490425"/>
            </a:xfrm>
            <a:prstGeom prst="rect">
              <a:avLst/>
            </a:prstGeom>
          </p:spPr>
          <p:txBody>
            <a:bodyPr wrap="square" lIns="0" tIns="0" rIns="0" bIns="0" rtlCol="0" anchor="t">
              <a:spAutoFit/>
            </a:bodyPr>
            <a:lstStyle/>
            <a:p>
              <a:pPr algn="l">
                <a:lnSpc>
                  <a:spcPts val="3612"/>
                </a:lnSpc>
              </a:pPr>
              <a:r>
                <a:rPr lang="en-US" sz="2400" b="1" dirty="0">
                  <a:solidFill>
                    <a:srgbClr val="0097B2"/>
                  </a:solidFill>
                  <a:latin typeface="Arial" panose="020B0604020202020204" pitchFamily="34" charset="0"/>
                  <a:ea typeface="Arvo Bold"/>
                  <a:cs typeface="Arial" panose="020B0604020202020204" pitchFamily="34" charset="0"/>
                  <a:sym typeface="Arvo Bold"/>
                </a:rPr>
                <a:t>Draft a Professional Email &amp; Etiquette Guide </a:t>
              </a:r>
            </a:p>
            <a:p>
              <a:pPr algn="r">
                <a:lnSpc>
                  <a:spcPts val="4029"/>
                </a:lnSpc>
              </a:pPr>
              <a:endParaRPr lang="en-US" sz="3116" b="1" dirty="0">
                <a:solidFill>
                  <a:srgbClr val="0097B2"/>
                </a:solidFill>
                <a:latin typeface="Arvo Bold"/>
                <a:ea typeface="Arvo Bold"/>
                <a:cs typeface="Arvo Bold"/>
                <a:sym typeface="Arvo Bold"/>
              </a:endParaRPr>
            </a:p>
          </p:txBody>
        </p:sp>
      </p:grpSp>
      <p:grpSp>
        <p:nvGrpSpPr>
          <p:cNvPr id="5" name="Group 5"/>
          <p:cNvGrpSpPr/>
          <p:nvPr/>
        </p:nvGrpSpPr>
        <p:grpSpPr>
          <a:xfrm>
            <a:off x="660400" y="4425887"/>
            <a:ext cx="6235700" cy="5919580"/>
            <a:chOff x="-4453466" y="3999597"/>
            <a:chExt cx="8314266" cy="7892773"/>
          </a:xfrm>
        </p:grpSpPr>
        <p:sp>
          <p:nvSpPr>
            <p:cNvPr id="6" name="TextBox 6"/>
            <p:cNvSpPr txBox="1"/>
            <p:nvPr/>
          </p:nvSpPr>
          <p:spPr>
            <a:xfrm>
              <a:off x="50800" y="11634560"/>
              <a:ext cx="3810000" cy="257810"/>
            </a:xfrm>
            <a:prstGeom prst="rect">
              <a:avLst/>
            </a:prstGeom>
          </p:spPr>
          <p:txBody>
            <a:bodyPr lIns="0" tIns="0" rIns="0" bIns="0" rtlCol="0" anchor="t">
              <a:spAutoFit/>
            </a:bodyPr>
            <a:lstStyle/>
            <a:p>
              <a:pPr algn="l">
                <a:lnSpc>
                  <a:spcPts val="1679"/>
                </a:lnSpc>
              </a:pPr>
              <a:endParaRPr/>
            </a:p>
          </p:txBody>
        </p:sp>
        <p:sp>
          <p:nvSpPr>
            <p:cNvPr id="7" name="TextBox 7"/>
            <p:cNvSpPr txBox="1"/>
            <p:nvPr/>
          </p:nvSpPr>
          <p:spPr>
            <a:xfrm>
              <a:off x="-4453466" y="3999597"/>
              <a:ext cx="8314266" cy="7339018"/>
            </a:xfrm>
            <a:prstGeom prst="rect">
              <a:avLst/>
            </a:prstGeom>
          </p:spPr>
          <p:txBody>
            <a:bodyPr wrap="square" lIns="0" tIns="0" rIns="0" bIns="0" rtlCol="0" anchor="t">
              <a:spAutoFit/>
            </a:bodyPr>
            <a:lstStyle/>
            <a:p>
              <a:pPr algn="just">
                <a:lnSpc>
                  <a:spcPct val="150000"/>
                </a:lnSpc>
              </a:pPr>
              <a:r>
                <a:rPr lang="en-US" sz="1523" b="1" dirty="0">
                  <a:solidFill>
                    <a:srgbClr val="000001"/>
                  </a:solidFill>
                  <a:latin typeface="Arial" panose="020B0604020202020204" pitchFamily="34" charset="0"/>
                  <a:ea typeface="Arvo Bold"/>
                  <a:cs typeface="Arial" panose="020B0604020202020204" pitchFamily="34" charset="0"/>
                  <a:sym typeface="Arvo Bold"/>
                </a:rPr>
                <a:t>One situation I’ve noticed is when students send very short or casual messages to professors or professionals without much thought. For example, messages like “Send details” or “I need help” don’t really explain anything and can come across as rude, even if that wasn’t the intention. Because of this, such messages are often ignored.</a:t>
              </a:r>
            </a:p>
            <a:p>
              <a:pPr algn="just">
                <a:lnSpc>
                  <a:spcPct val="150000"/>
                </a:lnSpc>
              </a:pPr>
              <a:endParaRPr lang="en-US" sz="1523" b="1" dirty="0">
                <a:solidFill>
                  <a:srgbClr val="000001"/>
                </a:solidFill>
                <a:latin typeface="Arial" panose="020B0604020202020204" pitchFamily="34" charset="0"/>
                <a:ea typeface="Arvo Bold"/>
                <a:cs typeface="Arial" panose="020B0604020202020204" pitchFamily="34" charset="0"/>
                <a:sym typeface="Arvo Bold"/>
              </a:endParaRPr>
            </a:p>
            <a:p>
              <a:pPr algn="just">
                <a:lnSpc>
                  <a:spcPct val="150000"/>
                </a:lnSpc>
              </a:pPr>
              <a:r>
                <a:rPr lang="en-US" sz="1523" b="1" dirty="0">
                  <a:solidFill>
                    <a:srgbClr val="000001"/>
                  </a:solidFill>
                  <a:latin typeface="Arial" panose="020B0604020202020204" pitchFamily="34" charset="0"/>
                  <a:ea typeface="Arvo Bold"/>
                  <a:cs typeface="Arial" panose="020B0604020202020204" pitchFamily="34" charset="0"/>
                  <a:sym typeface="Arvo Bold"/>
                </a:rPr>
                <a:t>I think this usually happens because people don’t realize how their tone sounds in text. When we talk in person, our tone and expressions help, but in messages, that context is missing.</a:t>
              </a:r>
            </a:p>
            <a:p>
              <a:pPr algn="just">
                <a:lnSpc>
                  <a:spcPct val="150000"/>
                </a:lnSpc>
              </a:pPr>
              <a:endParaRPr lang="en-US" sz="1523" b="1" dirty="0">
                <a:solidFill>
                  <a:srgbClr val="000001"/>
                </a:solidFill>
                <a:latin typeface="Arial" panose="020B0604020202020204" pitchFamily="34" charset="0"/>
                <a:ea typeface="Arvo Bold"/>
                <a:cs typeface="Arial" panose="020B0604020202020204" pitchFamily="34" charset="0"/>
                <a:sym typeface="Arvo Bold"/>
              </a:endParaRPr>
            </a:p>
            <a:p>
              <a:pPr algn="just">
                <a:lnSpc>
                  <a:spcPct val="150000"/>
                </a:lnSpc>
              </a:pPr>
              <a:r>
                <a:rPr lang="en-US" sz="1523" b="1" dirty="0">
                  <a:solidFill>
                    <a:srgbClr val="000001"/>
                  </a:solidFill>
                  <a:latin typeface="Arial" panose="020B0604020202020204" pitchFamily="34" charset="0"/>
                  <a:ea typeface="Arvo Bold"/>
                  <a:cs typeface="Arial" panose="020B0604020202020204" pitchFamily="34" charset="0"/>
                  <a:sym typeface="Arvo Bold"/>
                </a:rPr>
                <a:t>A better way would be to write a bit more clearly and politely, like introducing yourself, explaining what you need, and ending properly. These small changes don’t take much effort but can make a big difference in how the message is received.</a:t>
              </a:r>
            </a:p>
            <a:p>
              <a:pPr algn="l">
                <a:lnSpc>
                  <a:spcPts val="1853"/>
                </a:lnSpc>
              </a:pPr>
              <a:endParaRPr lang="en-US" sz="1523" b="1" dirty="0">
                <a:solidFill>
                  <a:srgbClr val="000001"/>
                </a:solidFill>
                <a:latin typeface="Arvo Bold"/>
                <a:ea typeface="Arvo Bold"/>
                <a:cs typeface="Arvo Bold"/>
                <a:sym typeface="Arvo Bold"/>
              </a:endParaRPr>
            </a:p>
          </p:txBody>
        </p:sp>
      </p:grpSp>
      <p:grpSp>
        <p:nvGrpSpPr>
          <p:cNvPr id="8" name="Group 8"/>
          <p:cNvGrpSpPr/>
          <p:nvPr/>
        </p:nvGrpSpPr>
        <p:grpSpPr>
          <a:xfrm rot="16200000">
            <a:off x="955581" y="213929"/>
            <a:ext cx="1454948" cy="3440691"/>
            <a:chOff x="0" y="0"/>
            <a:chExt cx="521421" cy="2528831"/>
          </a:xfrm>
        </p:grpSpPr>
        <p:sp>
          <p:nvSpPr>
            <p:cNvPr id="9" name="Freeform 9"/>
            <p:cNvSpPr/>
            <p:nvPr/>
          </p:nvSpPr>
          <p:spPr>
            <a:xfrm>
              <a:off x="0" y="0"/>
              <a:ext cx="521421" cy="2528831"/>
            </a:xfrm>
            <a:custGeom>
              <a:avLst/>
              <a:gdLst/>
              <a:ahLst/>
              <a:cxnLst/>
              <a:rect l="l" t="t" r="r" b="b"/>
              <a:pathLst>
                <a:path w="521421" h="2528831">
                  <a:moveTo>
                    <a:pt x="0" y="0"/>
                  </a:moveTo>
                  <a:lnTo>
                    <a:pt x="521421" y="0"/>
                  </a:lnTo>
                  <a:lnTo>
                    <a:pt x="521421" y="2528831"/>
                  </a:lnTo>
                  <a:lnTo>
                    <a:pt x="0" y="2528831"/>
                  </a:lnTo>
                  <a:close/>
                </a:path>
              </a:pathLst>
            </a:custGeom>
            <a:solidFill>
              <a:srgbClr val="0097B2"/>
            </a:solidFill>
          </p:spPr>
          <p:txBody>
            <a:bodyPr/>
            <a:lstStyle/>
            <a:p>
              <a:endParaRPr lang="en-US"/>
            </a:p>
          </p:txBody>
        </p:sp>
        <p:sp>
          <p:nvSpPr>
            <p:cNvPr id="10" name="TextBox 10"/>
            <p:cNvSpPr txBox="1"/>
            <p:nvPr/>
          </p:nvSpPr>
          <p:spPr>
            <a:xfrm>
              <a:off x="0" y="-19050"/>
              <a:ext cx="521421" cy="2547881"/>
            </a:xfrm>
            <a:prstGeom prst="rect">
              <a:avLst/>
            </a:prstGeom>
          </p:spPr>
          <p:txBody>
            <a:bodyPr lIns="50800" tIns="50800" rIns="50800" bIns="50800" rtlCol="0" anchor="ctr"/>
            <a:lstStyle/>
            <a:p>
              <a:pPr algn="ctr">
                <a:lnSpc>
                  <a:spcPts val="1795"/>
                </a:lnSpc>
              </a:pPr>
              <a:endParaRPr/>
            </a:p>
          </p:txBody>
        </p:sp>
      </p:grpSp>
      <p:grpSp>
        <p:nvGrpSpPr>
          <p:cNvPr id="11" name="Group 11"/>
          <p:cNvGrpSpPr/>
          <p:nvPr/>
        </p:nvGrpSpPr>
        <p:grpSpPr>
          <a:xfrm>
            <a:off x="6292850" y="1206800"/>
            <a:ext cx="1330724" cy="1454949"/>
            <a:chOff x="0" y="0"/>
            <a:chExt cx="521421" cy="271762"/>
          </a:xfrm>
        </p:grpSpPr>
        <p:sp>
          <p:nvSpPr>
            <p:cNvPr id="12" name="Freeform 12"/>
            <p:cNvSpPr/>
            <p:nvPr/>
          </p:nvSpPr>
          <p:spPr>
            <a:xfrm>
              <a:off x="0" y="0"/>
              <a:ext cx="521421" cy="271762"/>
            </a:xfrm>
            <a:custGeom>
              <a:avLst/>
              <a:gdLst/>
              <a:ahLst/>
              <a:cxnLst/>
              <a:rect l="l" t="t" r="r" b="b"/>
              <a:pathLst>
                <a:path w="521421" h="271762">
                  <a:moveTo>
                    <a:pt x="0" y="0"/>
                  </a:moveTo>
                  <a:lnTo>
                    <a:pt x="521421" y="0"/>
                  </a:lnTo>
                  <a:lnTo>
                    <a:pt x="521421" y="271762"/>
                  </a:lnTo>
                  <a:lnTo>
                    <a:pt x="0" y="271762"/>
                  </a:lnTo>
                  <a:close/>
                </a:path>
              </a:pathLst>
            </a:custGeom>
            <a:solidFill>
              <a:srgbClr val="0097B2"/>
            </a:solidFill>
          </p:spPr>
          <p:txBody>
            <a:bodyPr/>
            <a:lstStyle/>
            <a:p>
              <a:endParaRPr lang="en-US"/>
            </a:p>
          </p:txBody>
        </p:sp>
        <p:sp>
          <p:nvSpPr>
            <p:cNvPr id="13" name="TextBox 13"/>
            <p:cNvSpPr txBox="1"/>
            <p:nvPr/>
          </p:nvSpPr>
          <p:spPr>
            <a:xfrm>
              <a:off x="0" y="-19050"/>
              <a:ext cx="521421" cy="290812"/>
            </a:xfrm>
            <a:prstGeom prst="rect">
              <a:avLst/>
            </a:prstGeom>
          </p:spPr>
          <p:txBody>
            <a:bodyPr lIns="50800" tIns="50800" rIns="50800" bIns="50800" rtlCol="0" anchor="ctr"/>
            <a:lstStyle/>
            <a:p>
              <a:pPr algn="ctr">
                <a:lnSpc>
                  <a:spcPts val="1795"/>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EFBF"/>
        </a:solidFill>
        <a:effectLst/>
      </p:bgPr>
    </p:bg>
    <p:spTree>
      <p:nvGrpSpPr>
        <p:cNvPr id="1" name=""/>
        <p:cNvGrpSpPr/>
        <p:nvPr/>
      </p:nvGrpSpPr>
      <p:grpSpPr>
        <a:xfrm>
          <a:off x="0" y="0"/>
          <a:ext cx="0" cy="0"/>
          <a:chOff x="0" y="0"/>
          <a:chExt cx="0" cy="0"/>
        </a:xfrm>
      </p:grpSpPr>
      <p:sp>
        <p:nvSpPr>
          <p:cNvPr id="2" name="TextBox 2"/>
          <p:cNvSpPr txBox="1"/>
          <p:nvPr/>
        </p:nvSpPr>
        <p:spPr>
          <a:xfrm>
            <a:off x="3600403" y="998400"/>
            <a:ext cx="2844846" cy="2617704"/>
          </a:xfrm>
          <a:prstGeom prst="rect">
            <a:avLst/>
          </a:prstGeom>
        </p:spPr>
        <p:txBody>
          <a:bodyPr wrap="square" lIns="0" tIns="0" rIns="0" bIns="0" rtlCol="0" anchor="t">
            <a:spAutoFit/>
          </a:bodyPr>
          <a:lstStyle/>
          <a:p>
            <a:pPr algn="l">
              <a:lnSpc>
                <a:spcPts val="3363"/>
              </a:lnSpc>
            </a:pPr>
            <a:r>
              <a:rPr lang="en-US" sz="2902" b="1" dirty="0">
                <a:solidFill>
                  <a:srgbClr val="0097B2"/>
                </a:solidFill>
                <a:latin typeface="Arial" panose="020B0604020202020204" pitchFamily="34" charset="0"/>
                <a:ea typeface="Arvo Bold"/>
                <a:cs typeface="Arial" panose="020B0604020202020204" pitchFamily="34" charset="0"/>
                <a:sym typeface="Arvo Bold"/>
              </a:rPr>
              <a:t>Cybercrime Awareness Case Study &amp; Prevention</a:t>
            </a:r>
          </a:p>
          <a:p>
            <a:pPr algn="l">
              <a:lnSpc>
                <a:spcPts val="3363"/>
              </a:lnSpc>
            </a:pPr>
            <a:r>
              <a:rPr lang="en-US" sz="2902" b="1" dirty="0">
                <a:solidFill>
                  <a:srgbClr val="0097B2"/>
                </a:solidFill>
                <a:latin typeface="Arial" panose="020B0604020202020204" pitchFamily="34" charset="0"/>
                <a:ea typeface="Arvo Bold"/>
                <a:cs typeface="Arial" panose="020B0604020202020204" pitchFamily="34" charset="0"/>
                <a:sym typeface="Arvo Bold"/>
              </a:rPr>
              <a:t>Guide</a:t>
            </a:r>
          </a:p>
          <a:p>
            <a:pPr algn="r">
              <a:lnSpc>
                <a:spcPts val="3572"/>
              </a:lnSpc>
            </a:pPr>
            <a:endParaRPr lang="en-US" sz="2902" b="1" dirty="0">
              <a:solidFill>
                <a:srgbClr val="0097B2"/>
              </a:solidFill>
              <a:latin typeface="Arvo Bold"/>
              <a:ea typeface="Arvo Bold"/>
              <a:cs typeface="Arvo Bold"/>
              <a:sym typeface="Arvo Bold"/>
            </a:endParaRPr>
          </a:p>
        </p:txBody>
      </p:sp>
      <p:grpSp>
        <p:nvGrpSpPr>
          <p:cNvPr id="3" name="Group 3"/>
          <p:cNvGrpSpPr/>
          <p:nvPr/>
        </p:nvGrpSpPr>
        <p:grpSpPr>
          <a:xfrm>
            <a:off x="660400" y="4459910"/>
            <a:ext cx="6235700" cy="6285929"/>
            <a:chOff x="-4453466" y="3511132"/>
            <a:chExt cx="8314266" cy="8381238"/>
          </a:xfrm>
        </p:grpSpPr>
        <p:sp>
          <p:nvSpPr>
            <p:cNvPr id="4" name="TextBox 4"/>
            <p:cNvSpPr txBox="1"/>
            <p:nvPr/>
          </p:nvSpPr>
          <p:spPr>
            <a:xfrm>
              <a:off x="50800" y="11634560"/>
              <a:ext cx="3810000" cy="257810"/>
            </a:xfrm>
            <a:prstGeom prst="rect">
              <a:avLst/>
            </a:prstGeom>
          </p:spPr>
          <p:txBody>
            <a:bodyPr lIns="0" tIns="0" rIns="0" bIns="0" rtlCol="0" anchor="t">
              <a:spAutoFit/>
            </a:bodyPr>
            <a:lstStyle/>
            <a:p>
              <a:pPr algn="l">
                <a:lnSpc>
                  <a:spcPts val="1679"/>
                </a:lnSpc>
              </a:pPr>
              <a:endParaRPr/>
            </a:p>
          </p:txBody>
        </p:sp>
        <p:sp>
          <p:nvSpPr>
            <p:cNvPr id="5" name="TextBox 5"/>
            <p:cNvSpPr txBox="1"/>
            <p:nvPr/>
          </p:nvSpPr>
          <p:spPr>
            <a:xfrm>
              <a:off x="-4453466" y="3511132"/>
              <a:ext cx="8314266" cy="7339018"/>
            </a:xfrm>
            <a:prstGeom prst="rect">
              <a:avLst/>
            </a:prstGeom>
          </p:spPr>
          <p:txBody>
            <a:bodyPr wrap="square" lIns="0" tIns="0" rIns="0" bIns="0" rtlCol="0" anchor="t">
              <a:spAutoFit/>
            </a:bodyPr>
            <a:lstStyle/>
            <a:p>
              <a:pPr algn="l">
                <a:lnSpc>
                  <a:spcPct val="150000"/>
                </a:lnSpc>
              </a:pPr>
              <a:r>
                <a:rPr lang="en-US" sz="1523" b="1" dirty="0">
                  <a:solidFill>
                    <a:srgbClr val="000001"/>
                  </a:solidFill>
                  <a:latin typeface="Arial" panose="020B0604020202020204" pitchFamily="34" charset="0"/>
                  <a:ea typeface="Arvo Bold"/>
                  <a:cs typeface="Arial" panose="020B0604020202020204" pitchFamily="34" charset="0"/>
                  <a:sym typeface="Arvo Bold"/>
                </a:rPr>
                <a:t>While working on this task, what surprised me the most was how simple these scams actually are. Most of them don’t involve hacking or advanced technology , but instead depend on confusing or rushing people into making mistakes. I didn’t realize that something as small as accepting a UPI request without checking could lead to losing money instantly.</a:t>
              </a:r>
            </a:p>
            <a:p>
              <a:pPr algn="l">
                <a:lnSpc>
                  <a:spcPct val="150000"/>
                </a:lnSpc>
              </a:pPr>
              <a:endParaRPr lang="en-US" sz="1523" b="1" dirty="0">
                <a:solidFill>
                  <a:srgbClr val="000001"/>
                </a:solidFill>
                <a:latin typeface="Arial" panose="020B0604020202020204" pitchFamily="34" charset="0"/>
                <a:ea typeface="Arvo Bold"/>
                <a:cs typeface="Arial" panose="020B0604020202020204" pitchFamily="34" charset="0"/>
                <a:sym typeface="Arvo Bold"/>
              </a:endParaRPr>
            </a:p>
            <a:p>
              <a:pPr algn="l">
                <a:lnSpc>
                  <a:spcPct val="150000"/>
                </a:lnSpc>
              </a:pPr>
              <a:r>
                <a:rPr lang="en-US" sz="1523" b="1" dirty="0">
                  <a:solidFill>
                    <a:srgbClr val="000001"/>
                  </a:solidFill>
                  <a:latin typeface="Arial" panose="020B0604020202020204" pitchFamily="34" charset="0"/>
                  <a:ea typeface="Arvo Bold"/>
                  <a:cs typeface="Arial" panose="020B0604020202020204" pitchFamily="34" charset="0"/>
                  <a:sym typeface="Arvo Bold"/>
                </a:rPr>
                <a:t>This made me more aware of how careful we need to be while using digital platforms daily.</a:t>
              </a:r>
            </a:p>
            <a:p>
              <a:pPr algn="l">
                <a:lnSpc>
                  <a:spcPct val="150000"/>
                </a:lnSpc>
              </a:pPr>
              <a:r>
                <a:rPr lang="en-US" sz="1523" b="1" dirty="0">
                  <a:solidFill>
                    <a:srgbClr val="000001"/>
                  </a:solidFill>
                  <a:latin typeface="Arial" panose="020B0604020202020204" pitchFamily="34" charset="0"/>
                  <a:ea typeface="Arvo Bold"/>
                  <a:cs typeface="Arial" panose="020B0604020202020204" pitchFamily="34" charset="0"/>
                  <a:sym typeface="Arvo Bold"/>
                </a:rPr>
                <a:t>One habit I will definitely change is being more mindful before clicking on links or accepting payment requests.</a:t>
              </a:r>
            </a:p>
            <a:p>
              <a:pPr algn="l">
                <a:lnSpc>
                  <a:spcPct val="150000"/>
                </a:lnSpc>
              </a:pPr>
              <a:endParaRPr lang="en-US" sz="1523" b="1" dirty="0">
                <a:solidFill>
                  <a:srgbClr val="000001"/>
                </a:solidFill>
                <a:latin typeface="Arial" panose="020B0604020202020204" pitchFamily="34" charset="0"/>
                <a:ea typeface="Arvo Bold"/>
                <a:cs typeface="Arial" panose="020B0604020202020204" pitchFamily="34" charset="0"/>
                <a:sym typeface="Arvo Bold"/>
              </a:endParaRPr>
            </a:p>
            <a:p>
              <a:pPr algn="l">
                <a:lnSpc>
                  <a:spcPct val="150000"/>
                </a:lnSpc>
              </a:pPr>
              <a:r>
                <a:rPr lang="en-US" sz="1523" b="1" dirty="0">
                  <a:solidFill>
                    <a:srgbClr val="000001"/>
                  </a:solidFill>
                  <a:latin typeface="Arial" panose="020B0604020202020204" pitchFamily="34" charset="0"/>
                  <a:ea typeface="Arvo Bold"/>
                  <a:cs typeface="Arial" panose="020B0604020202020204" pitchFamily="34" charset="0"/>
                  <a:sym typeface="Arvo Bold"/>
                </a:rPr>
                <a:t> Earlier, I didn’t always pay close attention, but now I understand how important it is to double-check everything. This task has made me more cautious and responsible while using online services.</a:t>
              </a:r>
            </a:p>
            <a:p>
              <a:pPr algn="l">
                <a:lnSpc>
                  <a:spcPts val="1853"/>
                </a:lnSpc>
              </a:pPr>
              <a:endParaRPr lang="en-US" sz="1523" b="1" dirty="0">
                <a:solidFill>
                  <a:srgbClr val="000001"/>
                </a:solidFill>
                <a:latin typeface="Arvo Bold"/>
                <a:ea typeface="Arvo Bold"/>
                <a:cs typeface="Arvo Bold"/>
                <a:sym typeface="Arvo Bold"/>
              </a:endParaRPr>
            </a:p>
          </p:txBody>
        </p:sp>
      </p:grpSp>
      <p:grpSp>
        <p:nvGrpSpPr>
          <p:cNvPr id="6" name="Group 6"/>
          <p:cNvGrpSpPr/>
          <p:nvPr/>
        </p:nvGrpSpPr>
        <p:grpSpPr>
          <a:xfrm rot="16200000">
            <a:off x="1106478" y="-878149"/>
            <a:ext cx="3271439" cy="7024538"/>
            <a:chOff x="0" y="-19050"/>
            <a:chExt cx="1172411" cy="2547881"/>
          </a:xfrm>
        </p:grpSpPr>
        <p:sp>
          <p:nvSpPr>
            <p:cNvPr id="7" name="Freeform 7"/>
            <p:cNvSpPr/>
            <p:nvPr/>
          </p:nvSpPr>
          <p:spPr>
            <a:xfrm>
              <a:off x="650990" y="255783"/>
              <a:ext cx="521421" cy="1286401"/>
            </a:xfrm>
            <a:custGeom>
              <a:avLst/>
              <a:gdLst/>
              <a:ahLst/>
              <a:cxnLst/>
              <a:rect l="l" t="t" r="r" b="b"/>
              <a:pathLst>
                <a:path w="521421" h="2528831">
                  <a:moveTo>
                    <a:pt x="0" y="0"/>
                  </a:moveTo>
                  <a:lnTo>
                    <a:pt x="521421" y="0"/>
                  </a:lnTo>
                  <a:lnTo>
                    <a:pt x="521421" y="2528831"/>
                  </a:lnTo>
                  <a:lnTo>
                    <a:pt x="0" y="2528831"/>
                  </a:lnTo>
                  <a:close/>
                </a:path>
              </a:pathLst>
            </a:custGeom>
            <a:solidFill>
              <a:srgbClr val="0097B2"/>
            </a:solidFill>
          </p:spPr>
          <p:txBody>
            <a:bodyPr/>
            <a:lstStyle/>
            <a:p>
              <a:endParaRPr lang="en-US"/>
            </a:p>
          </p:txBody>
        </p:sp>
        <p:sp>
          <p:nvSpPr>
            <p:cNvPr id="8" name="TextBox 8"/>
            <p:cNvSpPr txBox="1"/>
            <p:nvPr/>
          </p:nvSpPr>
          <p:spPr>
            <a:xfrm>
              <a:off x="0" y="-19050"/>
              <a:ext cx="521421" cy="2547881"/>
            </a:xfrm>
            <a:prstGeom prst="rect">
              <a:avLst/>
            </a:prstGeom>
          </p:spPr>
          <p:txBody>
            <a:bodyPr lIns="50800" tIns="50800" rIns="50800" bIns="50800" rtlCol="0" anchor="ctr"/>
            <a:lstStyle/>
            <a:p>
              <a:pPr algn="ctr">
                <a:lnSpc>
                  <a:spcPts val="1795"/>
                </a:lnSpc>
              </a:pPr>
              <a:endParaRPr/>
            </a:p>
          </p:txBody>
        </p:sp>
      </p:grpSp>
      <p:grpSp>
        <p:nvGrpSpPr>
          <p:cNvPr id="9" name="Group 9"/>
          <p:cNvGrpSpPr/>
          <p:nvPr/>
        </p:nvGrpSpPr>
        <p:grpSpPr>
          <a:xfrm>
            <a:off x="6445249" y="998400"/>
            <a:ext cx="1111251" cy="1454949"/>
            <a:chOff x="0" y="0"/>
            <a:chExt cx="521421" cy="271762"/>
          </a:xfrm>
        </p:grpSpPr>
        <p:sp>
          <p:nvSpPr>
            <p:cNvPr id="10" name="Freeform 10"/>
            <p:cNvSpPr/>
            <p:nvPr/>
          </p:nvSpPr>
          <p:spPr>
            <a:xfrm>
              <a:off x="0" y="0"/>
              <a:ext cx="521421" cy="271762"/>
            </a:xfrm>
            <a:custGeom>
              <a:avLst/>
              <a:gdLst/>
              <a:ahLst/>
              <a:cxnLst/>
              <a:rect l="l" t="t" r="r" b="b"/>
              <a:pathLst>
                <a:path w="521421" h="271762">
                  <a:moveTo>
                    <a:pt x="0" y="0"/>
                  </a:moveTo>
                  <a:lnTo>
                    <a:pt x="521421" y="0"/>
                  </a:lnTo>
                  <a:lnTo>
                    <a:pt x="521421" y="271762"/>
                  </a:lnTo>
                  <a:lnTo>
                    <a:pt x="0" y="271762"/>
                  </a:lnTo>
                  <a:close/>
                </a:path>
              </a:pathLst>
            </a:custGeom>
            <a:solidFill>
              <a:srgbClr val="0097B2"/>
            </a:solidFill>
          </p:spPr>
          <p:txBody>
            <a:bodyPr/>
            <a:lstStyle/>
            <a:p>
              <a:endParaRPr lang="en-US"/>
            </a:p>
          </p:txBody>
        </p:sp>
        <p:sp>
          <p:nvSpPr>
            <p:cNvPr id="11" name="TextBox 11"/>
            <p:cNvSpPr txBox="1"/>
            <p:nvPr/>
          </p:nvSpPr>
          <p:spPr>
            <a:xfrm>
              <a:off x="0" y="-19050"/>
              <a:ext cx="521421" cy="290812"/>
            </a:xfrm>
            <a:prstGeom prst="rect">
              <a:avLst/>
            </a:prstGeom>
          </p:spPr>
          <p:txBody>
            <a:bodyPr lIns="50800" tIns="50800" rIns="50800" bIns="50800" rtlCol="0" anchor="ctr"/>
            <a:lstStyle/>
            <a:p>
              <a:pPr algn="ctr">
                <a:lnSpc>
                  <a:spcPts val="1795"/>
                </a:lnSpc>
              </a:pPr>
              <a:endParaRPr/>
            </a:p>
          </p:txBody>
        </p:sp>
      </p:grpSp>
      <p:sp>
        <p:nvSpPr>
          <p:cNvPr id="12" name="TextBox 12"/>
          <p:cNvSpPr txBox="1"/>
          <p:nvPr/>
        </p:nvSpPr>
        <p:spPr>
          <a:xfrm>
            <a:off x="3534270" y="3254512"/>
            <a:ext cx="3146527" cy="617092"/>
          </a:xfrm>
          <a:prstGeom prst="rect">
            <a:avLst/>
          </a:prstGeom>
        </p:spPr>
        <p:txBody>
          <a:bodyPr wrap="square" lIns="0" tIns="0" rIns="0" bIns="0" rtlCol="0" anchor="t">
            <a:spAutoFit/>
          </a:bodyPr>
          <a:lstStyle/>
          <a:p>
            <a:pPr algn="ctr">
              <a:lnSpc>
                <a:spcPts val="2100"/>
              </a:lnSpc>
            </a:pPr>
            <a:r>
              <a:rPr lang="en-US" sz="1500" b="1" dirty="0">
                <a:solidFill>
                  <a:srgbClr val="000000"/>
                </a:solidFill>
                <a:latin typeface="Canva Sans Bold"/>
                <a:ea typeface="Canva Sans Bold"/>
                <a:cs typeface="Canva Sans Bold"/>
                <a:sym typeface="Canva Sans Bold"/>
              </a:rPr>
              <a:t>MODULE - 5 - PART A and PART B</a:t>
            </a:r>
          </a:p>
          <a:p>
            <a:pPr algn="ctr">
              <a:lnSpc>
                <a:spcPts val="3079"/>
              </a:lnSpc>
            </a:pPr>
            <a:endParaRPr lang="en-US" sz="1500" b="1" dirty="0">
              <a:solidFill>
                <a:srgbClr val="000000"/>
              </a:solidFill>
              <a:latin typeface="Canva Sans Bold"/>
              <a:ea typeface="Canva Sans Bold"/>
              <a:cs typeface="Canva Sans Bold"/>
              <a:sym typeface="Canva Sans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 y="0"/>
            <a:ext cx="7556501" cy="4889500"/>
            <a:chOff x="0" y="0"/>
            <a:chExt cx="10651066" cy="7038283"/>
          </a:xfrm>
        </p:grpSpPr>
        <p:pic>
          <p:nvPicPr>
            <p:cNvPr id="3" name="Picture 3"/>
            <p:cNvPicPr>
              <a:picLocks noChangeAspect="1"/>
            </p:cNvPicPr>
            <p:nvPr/>
          </p:nvPicPr>
          <p:blipFill>
            <a:blip r:embed="rId2"/>
            <a:srcRect t="439" b="439"/>
            <a:stretch>
              <a:fillRect/>
            </a:stretch>
          </p:blipFill>
          <p:spPr>
            <a:xfrm>
              <a:off x="0" y="0"/>
              <a:ext cx="10651066" cy="7038283"/>
            </a:xfrm>
            <a:prstGeom prst="rect">
              <a:avLst/>
            </a:prstGeom>
          </p:spPr>
        </p:pic>
      </p:grpSp>
      <p:sp>
        <p:nvSpPr>
          <p:cNvPr id="4" name="TextBox 4"/>
          <p:cNvSpPr txBox="1"/>
          <p:nvPr/>
        </p:nvSpPr>
        <p:spPr>
          <a:xfrm>
            <a:off x="586842" y="5073913"/>
            <a:ext cx="6382814" cy="5619487"/>
          </a:xfrm>
          <a:prstGeom prst="rect">
            <a:avLst/>
          </a:prstGeom>
        </p:spPr>
        <p:txBody>
          <a:bodyPr lIns="0" tIns="0" rIns="0" bIns="0" rtlCol="0" anchor="t">
            <a:spAutoFit/>
          </a:bodyPr>
          <a:lstStyle/>
          <a:p>
            <a:pPr algn="just">
              <a:lnSpc>
                <a:spcPct val="150000"/>
              </a:lnSpc>
            </a:pPr>
            <a:r>
              <a:rPr lang="en-US" sz="1799" b="1" dirty="0">
                <a:solidFill>
                  <a:srgbClr val="000001"/>
                </a:solidFill>
                <a:latin typeface="Arial" panose="020B0604020202020204" pitchFamily="34" charset="0"/>
                <a:ea typeface="Montserrat Bold"/>
                <a:cs typeface="Arial" panose="020B0604020202020204" pitchFamily="34" charset="0"/>
                <a:sym typeface="Montserrat Bold"/>
              </a:rPr>
              <a:t>Overall, this project was a good learning experience for me. It helped me understand that digital literacy is not just about using technology, but also about using it in a smart and responsible way. Each task taught me something different, whether it was designing, coding, communicating professionally, or staying safe online.</a:t>
            </a:r>
          </a:p>
          <a:p>
            <a:pPr algn="just">
              <a:lnSpc>
                <a:spcPct val="150000"/>
              </a:lnSpc>
            </a:pPr>
            <a:endParaRPr lang="en-US" sz="1799" b="1" dirty="0">
              <a:solidFill>
                <a:srgbClr val="000001"/>
              </a:solidFill>
              <a:latin typeface="Arial" panose="020B0604020202020204" pitchFamily="34" charset="0"/>
              <a:ea typeface="Montserrat Bold"/>
              <a:cs typeface="Arial" panose="020B0604020202020204" pitchFamily="34" charset="0"/>
              <a:sym typeface="Montserrat Bold"/>
            </a:endParaRPr>
          </a:p>
          <a:p>
            <a:pPr algn="just">
              <a:lnSpc>
                <a:spcPct val="150000"/>
              </a:lnSpc>
            </a:pPr>
            <a:r>
              <a:rPr lang="en-US" sz="1799" b="1" dirty="0">
                <a:solidFill>
                  <a:srgbClr val="000001"/>
                </a:solidFill>
                <a:latin typeface="Arial" panose="020B0604020202020204" pitchFamily="34" charset="0"/>
                <a:ea typeface="Montserrat Bold"/>
                <a:cs typeface="Arial" panose="020B0604020202020204" pitchFamily="34" charset="0"/>
                <a:sym typeface="Montserrat Bold"/>
              </a:rPr>
              <a:t>I also realized that small habits, like checking information properly or communicating clearly, can make a big difference. This project has made me more confident in using digital tools and more aware of how to use them carefully. I believe these skills will be helpful for my studies and future career</a:t>
            </a:r>
            <a:r>
              <a:rPr lang="en-US" sz="1799" dirty="0">
                <a:solidFill>
                  <a:srgbClr val="000001"/>
                </a:solidFill>
                <a:latin typeface="Arial" panose="020B0604020202020204" pitchFamily="34" charset="0"/>
                <a:ea typeface="Montserrat Light"/>
                <a:cs typeface="Arial" panose="020B0604020202020204" pitchFamily="34" charset="0"/>
                <a:sym typeface="Montserrat Light"/>
              </a:rPr>
              <a:t>.</a:t>
            </a:r>
          </a:p>
          <a:p>
            <a:pPr algn="r">
              <a:lnSpc>
                <a:spcPts val="1679"/>
              </a:lnSpc>
            </a:pPr>
            <a:endParaRPr lang="en-US" sz="1799" dirty="0">
              <a:solidFill>
                <a:srgbClr val="000001"/>
              </a:solidFill>
              <a:latin typeface="Montserrat Light"/>
              <a:ea typeface="Montserrat Light"/>
              <a:cs typeface="Montserrat Light"/>
              <a:sym typeface="Montserrat Light"/>
            </a:endParaRPr>
          </a:p>
        </p:txBody>
      </p:sp>
      <p:sp>
        <p:nvSpPr>
          <p:cNvPr id="5" name="TextBox 5"/>
          <p:cNvSpPr txBox="1"/>
          <p:nvPr/>
        </p:nvSpPr>
        <p:spPr>
          <a:xfrm>
            <a:off x="729619" y="816594"/>
            <a:ext cx="3952875" cy="1163039"/>
          </a:xfrm>
          <a:prstGeom prst="rect">
            <a:avLst/>
          </a:prstGeom>
        </p:spPr>
        <p:txBody>
          <a:bodyPr lIns="0" tIns="0" rIns="0" bIns="0" rtlCol="0" anchor="t">
            <a:spAutoFit/>
          </a:bodyPr>
          <a:lstStyle/>
          <a:p>
            <a:pPr algn="l">
              <a:lnSpc>
                <a:spcPts val="4515"/>
              </a:lnSpc>
            </a:pPr>
            <a:r>
              <a:rPr lang="en-US" sz="3896" b="1">
                <a:solidFill>
                  <a:srgbClr val="0097B2"/>
                </a:solidFill>
                <a:latin typeface="Arvo Bold"/>
                <a:ea typeface="Arvo Bold"/>
                <a:cs typeface="Arvo Bold"/>
                <a:sym typeface="Arvo Bold"/>
              </a:rPr>
              <a:t>CONCLUSION</a:t>
            </a:r>
          </a:p>
          <a:p>
            <a:pPr algn="l">
              <a:lnSpc>
                <a:spcPts val="4519"/>
              </a:lnSpc>
            </a:pPr>
            <a:endParaRPr lang="en-US" sz="3896" b="1">
              <a:solidFill>
                <a:srgbClr val="0097B2"/>
              </a:solidFill>
              <a:latin typeface="Arvo Bold"/>
              <a:ea typeface="Arvo Bold"/>
              <a:cs typeface="Arvo Bold"/>
              <a:sym typeface="Arvo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EFBF"/>
        </a:solidFill>
        <a:effectLst/>
      </p:bgPr>
    </p:bg>
    <p:spTree>
      <p:nvGrpSpPr>
        <p:cNvPr id="1" name=""/>
        <p:cNvGrpSpPr/>
        <p:nvPr/>
      </p:nvGrpSpPr>
      <p:grpSpPr>
        <a:xfrm>
          <a:off x="0" y="0"/>
          <a:ext cx="0" cy="0"/>
          <a:chOff x="0" y="0"/>
          <a:chExt cx="0" cy="0"/>
        </a:xfrm>
      </p:grpSpPr>
      <p:sp>
        <p:nvSpPr>
          <p:cNvPr id="2" name="TextBox 2"/>
          <p:cNvSpPr txBox="1"/>
          <p:nvPr/>
        </p:nvSpPr>
        <p:spPr>
          <a:xfrm>
            <a:off x="1794993" y="393700"/>
            <a:ext cx="3952875" cy="591292"/>
          </a:xfrm>
          <a:prstGeom prst="rect">
            <a:avLst/>
          </a:prstGeom>
        </p:spPr>
        <p:txBody>
          <a:bodyPr lIns="0" tIns="0" rIns="0" bIns="0" rtlCol="0" anchor="t">
            <a:spAutoFit/>
          </a:bodyPr>
          <a:lstStyle/>
          <a:p>
            <a:pPr algn="ctr">
              <a:lnSpc>
                <a:spcPts val="4519"/>
              </a:lnSpc>
            </a:pPr>
            <a:r>
              <a:rPr lang="en-US" sz="3896" b="1" dirty="0">
                <a:solidFill>
                  <a:srgbClr val="0097B2"/>
                </a:solidFill>
                <a:latin typeface="Arvo Bold"/>
                <a:ea typeface="Arvo Bold"/>
                <a:cs typeface="Arvo Bold"/>
                <a:sym typeface="Arvo Bold"/>
              </a:rPr>
              <a:t>REFERENCES</a:t>
            </a:r>
          </a:p>
        </p:txBody>
      </p:sp>
      <p:sp>
        <p:nvSpPr>
          <p:cNvPr id="3" name="TextBox 3"/>
          <p:cNvSpPr txBox="1"/>
          <p:nvPr/>
        </p:nvSpPr>
        <p:spPr>
          <a:xfrm>
            <a:off x="460258" y="1917700"/>
            <a:ext cx="6622344" cy="7730321"/>
          </a:xfrm>
          <a:prstGeom prst="rect">
            <a:avLst/>
          </a:prstGeom>
        </p:spPr>
        <p:txBody>
          <a:bodyPr lIns="0" tIns="0" rIns="0" bIns="0" rtlCol="0" anchor="t">
            <a:spAutoFit/>
          </a:bodyPr>
          <a:lstStyle/>
          <a:p>
            <a:pPr marL="415222" lvl="1" indent="-207611" algn="just">
              <a:lnSpc>
                <a:spcPct val="150000"/>
              </a:lnSpc>
              <a:buFont typeface="Arial"/>
              <a:buChar char="•"/>
            </a:pPr>
            <a:r>
              <a:rPr lang="en-US" b="1" dirty="0">
                <a:solidFill>
                  <a:srgbClr val="000001"/>
                </a:solidFill>
                <a:latin typeface="Arial" panose="020B0604020202020204" pitchFamily="34" charset="0"/>
                <a:ea typeface="Montserrat Bold"/>
                <a:cs typeface="Arial" panose="020B0604020202020204" pitchFamily="34" charset="0"/>
                <a:sym typeface="Montserrat Bold"/>
              </a:rPr>
              <a:t>Google Docs, Google Forms – used for creating and managing content</a:t>
            </a:r>
          </a:p>
          <a:p>
            <a:pPr algn="just">
              <a:lnSpc>
                <a:spcPct val="150000"/>
              </a:lnSpc>
            </a:pPr>
            <a:endParaRPr lang="en-US" b="1" dirty="0">
              <a:solidFill>
                <a:srgbClr val="000001"/>
              </a:solidFill>
              <a:latin typeface="Arial" panose="020B0604020202020204" pitchFamily="34" charset="0"/>
              <a:ea typeface="Montserrat Bold"/>
              <a:cs typeface="Arial" panose="020B0604020202020204" pitchFamily="34" charset="0"/>
              <a:sym typeface="Montserrat Bold"/>
            </a:endParaRPr>
          </a:p>
          <a:p>
            <a:pPr marL="415222" lvl="1" indent="-207611" algn="just">
              <a:lnSpc>
                <a:spcPct val="150000"/>
              </a:lnSpc>
              <a:buFont typeface="Arial"/>
              <a:buChar char="•"/>
            </a:pPr>
            <a:r>
              <a:rPr lang="en-US" b="1" dirty="0">
                <a:solidFill>
                  <a:srgbClr val="000001"/>
                </a:solidFill>
                <a:latin typeface="Arial" panose="020B0604020202020204" pitchFamily="34" charset="0"/>
                <a:ea typeface="Montserrat Bold"/>
                <a:cs typeface="Arial" panose="020B0604020202020204" pitchFamily="34" charset="0"/>
                <a:sym typeface="Montserrat Bold"/>
              </a:rPr>
              <a:t>Canva – used for designing the infographic</a:t>
            </a:r>
          </a:p>
          <a:p>
            <a:pPr algn="just">
              <a:lnSpc>
                <a:spcPct val="150000"/>
              </a:lnSpc>
            </a:pPr>
            <a:endParaRPr lang="en-US" b="1" dirty="0">
              <a:solidFill>
                <a:srgbClr val="000001"/>
              </a:solidFill>
              <a:latin typeface="Arial" panose="020B0604020202020204" pitchFamily="34" charset="0"/>
              <a:ea typeface="Montserrat Bold"/>
              <a:cs typeface="Arial" panose="020B0604020202020204" pitchFamily="34" charset="0"/>
              <a:sym typeface="Montserrat Bold"/>
            </a:endParaRPr>
          </a:p>
          <a:p>
            <a:pPr marL="415222" lvl="1" indent="-207611" algn="just">
              <a:lnSpc>
                <a:spcPct val="150000"/>
              </a:lnSpc>
              <a:buFont typeface="Arial"/>
              <a:buChar char="•"/>
            </a:pPr>
            <a:r>
              <a:rPr lang="en-US" b="1" dirty="0">
                <a:solidFill>
                  <a:srgbClr val="000001"/>
                </a:solidFill>
                <a:latin typeface="Arial" panose="020B0604020202020204" pitchFamily="34" charset="0"/>
                <a:ea typeface="Montserrat Bold"/>
                <a:cs typeface="Arial" panose="020B0604020202020204" pitchFamily="34" charset="0"/>
                <a:sym typeface="Montserrat Bold"/>
              </a:rPr>
              <a:t>GitHub – used for project hosting and version control</a:t>
            </a:r>
          </a:p>
          <a:p>
            <a:pPr algn="just">
              <a:lnSpc>
                <a:spcPct val="150000"/>
              </a:lnSpc>
            </a:pPr>
            <a:endParaRPr lang="en-US" b="1" dirty="0">
              <a:solidFill>
                <a:srgbClr val="000001"/>
              </a:solidFill>
              <a:latin typeface="Arial" panose="020B0604020202020204" pitchFamily="34" charset="0"/>
              <a:ea typeface="Montserrat Bold"/>
              <a:cs typeface="Arial" panose="020B0604020202020204" pitchFamily="34" charset="0"/>
              <a:sym typeface="Montserrat Bold"/>
            </a:endParaRPr>
          </a:p>
          <a:p>
            <a:pPr marL="415222" lvl="1" indent="-207611" algn="just">
              <a:lnSpc>
                <a:spcPct val="150000"/>
              </a:lnSpc>
              <a:buFont typeface="Arial"/>
              <a:buChar char="•"/>
            </a:pPr>
            <a:r>
              <a:rPr lang="en-US" b="1" dirty="0">
                <a:solidFill>
                  <a:srgbClr val="000001"/>
                </a:solidFill>
                <a:latin typeface="Arial" panose="020B0604020202020204" pitchFamily="34" charset="0"/>
                <a:ea typeface="Montserrat Bold"/>
                <a:cs typeface="Arial" panose="020B0604020202020204" pitchFamily="34" charset="0"/>
                <a:sym typeface="Montserrat Bold"/>
              </a:rPr>
              <a:t>Kaggle – used for practicing coding and problem-solving</a:t>
            </a:r>
          </a:p>
          <a:p>
            <a:pPr algn="just">
              <a:lnSpc>
                <a:spcPct val="150000"/>
              </a:lnSpc>
            </a:pPr>
            <a:endParaRPr lang="en-US" b="1" dirty="0">
              <a:solidFill>
                <a:srgbClr val="000001"/>
              </a:solidFill>
              <a:latin typeface="Arial" panose="020B0604020202020204" pitchFamily="34" charset="0"/>
              <a:ea typeface="Montserrat Bold"/>
              <a:cs typeface="Arial" panose="020B0604020202020204" pitchFamily="34" charset="0"/>
              <a:sym typeface="Montserrat Bold"/>
            </a:endParaRPr>
          </a:p>
          <a:p>
            <a:pPr marL="415222" lvl="1" indent="-207611" algn="just">
              <a:lnSpc>
                <a:spcPct val="150000"/>
              </a:lnSpc>
              <a:buFont typeface="Arial"/>
              <a:buChar char="•"/>
            </a:pPr>
            <a:r>
              <a:rPr lang="en-US" b="1" dirty="0">
                <a:solidFill>
                  <a:srgbClr val="000001"/>
                </a:solidFill>
                <a:latin typeface="Arial" panose="020B0604020202020204" pitchFamily="34" charset="0"/>
                <a:ea typeface="Montserrat Bold"/>
                <a:cs typeface="Arial" panose="020B0604020202020204" pitchFamily="34" charset="0"/>
                <a:sym typeface="Montserrat Bold"/>
              </a:rPr>
              <a:t>LinkedIn – used for building a professional profile</a:t>
            </a:r>
          </a:p>
          <a:p>
            <a:pPr algn="just">
              <a:lnSpc>
                <a:spcPct val="150000"/>
              </a:lnSpc>
            </a:pPr>
            <a:endParaRPr lang="en-US" b="1" dirty="0">
              <a:solidFill>
                <a:srgbClr val="000001"/>
              </a:solidFill>
              <a:latin typeface="Arial" panose="020B0604020202020204" pitchFamily="34" charset="0"/>
              <a:ea typeface="Montserrat Bold"/>
              <a:cs typeface="Arial" panose="020B0604020202020204" pitchFamily="34" charset="0"/>
              <a:sym typeface="Montserrat Bold"/>
            </a:endParaRPr>
          </a:p>
          <a:p>
            <a:pPr marL="415222" lvl="1" indent="-207611" algn="just">
              <a:lnSpc>
                <a:spcPct val="150000"/>
              </a:lnSpc>
              <a:buFont typeface="Arial"/>
              <a:buChar char="•"/>
            </a:pPr>
            <a:r>
              <a:rPr lang="en-US" b="1" dirty="0" err="1">
                <a:solidFill>
                  <a:srgbClr val="000001"/>
                </a:solidFill>
                <a:latin typeface="Arial" panose="020B0604020202020204" pitchFamily="34" charset="0"/>
                <a:ea typeface="Montserrat Bold"/>
                <a:cs typeface="Arial" panose="020B0604020202020204" pitchFamily="34" charset="0"/>
                <a:sym typeface="Montserrat Bold"/>
              </a:rPr>
              <a:t>HackerRank</a:t>
            </a:r>
            <a:r>
              <a:rPr lang="en-US" b="1" dirty="0">
                <a:solidFill>
                  <a:srgbClr val="000001"/>
                </a:solidFill>
                <a:latin typeface="Arial" panose="020B0604020202020204" pitchFamily="34" charset="0"/>
                <a:ea typeface="Montserrat Bold"/>
                <a:cs typeface="Arial" panose="020B0604020202020204" pitchFamily="34" charset="0"/>
                <a:sym typeface="Montserrat Bold"/>
              </a:rPr>
              <a:t> – used for coding practice and certification</a:t>
            </a:r>
          </a:p>
          <a:p>
            <a:pPr algn="just">
              <a:lnSpc>
                <a:spcPct val="150000"/>
              </a:lnSpc>
            </a:pPr>
            <a:endParaRPr lang="en-US" b="1" dirty="0">
              <a:solidFill>
                <a:srgbClr val="000001"/>
              </a:solidFill>
              <a:latin typeface="Arial" panose="020B0604020202020204" pitchFamily="34" charset="0"/>
              <a:ea typeface="Montserrat Bold"/>
              <a:cs typeface="Arial" panose="020B0604020202020204" pitchFamily="34" charset="0"/>
              <a:sym typeface="Montserrat Bold"/>
            </a:endParaRPr>
          </a:p>
          <a:p>
            <a:pPr marL="415222" lvl="1" indent="-207611" algn="just">
              <a:lnSpc>
                <a:spcPct val="150000"/>
              </a:lnSpc>
              <a:buFont typeface="Arial"/>
              <a:buChar char="•"/>
            </a:pPr>
            <a:r>
              <a:rPr lang="en-US" b="1" dirty="0">
                <a:solidFill>
                  <a:srgbClr val="000001"/>
                </a:solidFill>
                <a:latin typeface="Arial" panose="020B0604020202020204" pitchFamily="34" charset="0"/>
                <a:ea typeface="Montserrat Bold"/>
                <a:cs typeface="Arial" panose="020B0604020202020204" pitchFamily="34" charset="0"/>
                <a:sym typeface="Montserrat Bold"/>
              </a:rPr>
              <a:t>National Cyber Crime Portal: </a:t>
            </a:r>
            <a:r>
              <a:rPr lang="en-US" b="1" u="sng" dirty="0">
                <a:solidFill>
                  <a:srgbClr val="000001"/>
                </a:solidFill>
                <a:latin typeface="Arial" panose="020B0604020202020204" pitchFamily="34" charset="0"/>
                <a:ea typeface="Montserrat Bold"/>
                <a:cs typeface="Arial" panose="020B0604020202020204" pitchFamily="34" charset="0"/>
                <a:sym typeface="Montserrat Bold"/>
                <a:hlinkClick r:id="rId2" tooltip="https://cybercrime.gov.in"/>
              </a:rPr>
              <a:t>https://cybercrime.gov.in</a:t>
            </a:r>
          </a:p>
          <a:p>
            <a:pPr algn="just">
              <a:lnSpc>
                <a:spcPct val="150000"/>
              </a:lnSpc>
            </a:pPr>
            <a:endParaRPr lang="en-US" b="1" u="sng" dirty="0">
              <a:solidFill>
                <a:srgbClr val="000001"/>
              </a:solidFill>
              <a:latin typeface="Arial" panose="020B0604020202020204" pitchFamily="34" charset="0"/>
              <a:ea typeface="Montserrat Bold"/>
              <a:cs typeface="Arial" panose="020B0604020202020204" pitchFamily="34" charset="0"/>
              <a:sym typeface="Montserrat Bold"/>
              <a:hlinkClick r:id="rId2" tooltip="https://cybercrime.gov.in"/>
            </a:endParaRPr>
          </a:p>
          <a:p>
            <a:pPr marL="415222" lvl="1" indent="-207611" algn="just">
              <a:lnSpc>
                <a:spcPct val="150000"/>
              </a:lnSpc>
              <a:buFont typeface="Arial"/>
              <a:buChar char="•"/>
            </a:pPr>
            <a:r>
              <a:rPr lang="en-US" b="1" dirty="0">
                <a:solidFill>
                  <a:srgbClr val="000001"/>
                </a:solidFill>
                <a:latin typeface="Arial" panose="020B0604020202020204" pitchFamily="34" charset="0"/>
                <a:ea typeface="Montserrat Bold"/>
                <a:cs typeface="Arial" panose="020B0604020202020204" pitchFamily="34" charset="0"/>
                <a:sym typeface="Montserrat Bold"/>
              </a:rPr>
              <a:t>General knowledge based on classroom learning and online resources</a:t>
            </a:r>
          </a:p>
          <a:p>
            <a:pPr algn="just">
              <a:lnSpc>
                <a:spcPts val="2692"/>
              </a:lnSpc>
            </a:pPr>
            <a:endParaRPr lang="en-US" sz="1923" b="1" dirty="0">
              <a:solidFill>
                <a:srgbClr val="000001"/>
              </a:solidFill>
              <a:latin typeface="Montserrat Bold"/>
              <a:ea typeface="Montserrat Bold"/>
              <a:cs typeface="Montserrat Bold"/>
              <a:sym typeface="Montserrat Bold"/>
            </a:endParaRPr>
          </a:p>
          <a:p>
            <a:pPr algn="just">
              <a:lnSpc>
                <a:spcPts val="2692"/>
              </a:lnSpc>
            </a:pPr>
            <a:endParaRPr lang="en-US" sz="1923" b="1" dirty="0">
              <a:solidFill>
                <a:srgbClr val="000001"/>
              </a:solidFill>
              <a:latin typeface="Montserrat Bold"/>
              <a:ea typeface="Montserrat Bold"/>
              <a:cs typeface="Montserrat Bold"/>
              <a:sym typeface="Montserrat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TotalTime>
  <Words>1471</Words>
  <Application>Microsoft Macintosh PowerPoint</Application>
  <PresentationFormat>Custom</PresentationFormat>
  <Paragraphs>76</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Canva Sans Bold</vt:lpstr>
      <vt:lpstr>Montserrat Light</vt:lpstr>
      <vt:lpstr>Calibri</vt:lpstr>
      <vt:lpstr>Arvo Bold</vt:lpstr>
      <vt:lpstr>Montserrat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Literacy Awareness Infographic – Report</dc:title>
  <cp:lastModifiedBy>sachin warik</cp:lastModifiedBy>
  <cp:revision>2</cp:revision>
  <dcterms:created xsi:type="dcterms:W3CDTF">2006-08-16T00:00:00Z</dcterms:created>
  <dcterms:modified xsi:type="dcterms:W3CDTF">2026-03-28T13:24:41Z</dcterms:modified>
  <dc:identifier>DAHFBat3Lrw</dc:identifier>
</cp:coreProperties>
</file>